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73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99"/>
  </p:normalViewPr>
  <p:slideViewPr>
    <p:cSldViewPr snapToGrid="0">
      <p:cViewPr>
        <p:scale>
          <a:sx n="104" d="100"/>
          <a:sy n="104" d="100"/>
        </p:scale>
        <p:origin x="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开场建议：先把 IBERO 定义为一个可以被高校和企业直接参与开发的共享基准项目，而不是单一实验室的算法展示。核心关键词是工业、双臂、具身、基准，以及神经符号人工智能社区。资料来源：IBERO方案，第1至2节。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重点：不要把问题讲成“现有工作不够好”，而要讲成评测对象发生了变化。工业双臂任务面对高混合、小批量、磨损、形变、粘连和安全边界，单一成功率不足以支撑工程判断。资料来源：IBERO方案，第1.1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这一页是全场的主张：IBERO不是单向交付的平台，而是平台方与社区方的分工协议。平台方降低共建门槛，社区方扩大工业场景和算法覆盖。资料来源：IBERO方案，第1.2节。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讲述顺序从上到下：最终用评测和榜单形成共同语言；中间用套件覆盖不同工业问题；工具链让贡献可落地；底层 Core 保证物理与控制的一致性。未来可在顶层接入神经符号工艺推理与形式化安全中间件。资料来源：IBERO方案，第2.2节、第3节。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面向参与者的核心一页。对高校强调标准基准、降低实验门槛和论文影响力；对企业强调数字孪生验证、减少真实产线风险和沉淀工艺资产；对算法团队强调工业约束下的公平比较。资料来源：IBERO方案第2.3节和目标用户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可以用“稳定的底座 + 可增长的场景库 + 统一的评测层”解释架构。神经符号中间件是未来演进方向，当前阶段先把物理、控制、数据和接入规范夯实。资料来源：IBERO方案第3节。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面向工业研发负责人时，强调 Core 不是普通的双臂仿真，而是把工业约束变成可配置、可验证的环境变量。面向高校时，强调这些约束可以被算法研究直接调用和比较。资料来源：IBERO方案第2.2节、第4.1节。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这一页适合说明为什么 IBERO 能容纳不同学校和企业的特色方向：大家不必从零设计一个新平台，只需要在统一结构下贡献一个新的工业问题。资料来源：IBERO方案第2.2节、第3节、第4.4节。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技术细节可以快速带过，重点是让听众理解贡献成本是可控的：一个场景有清晰的资产、任务、约束和示教数据边界，并且能自动检查。资料来源：IBERO方案第4.2、4.3、5.1、5.2节。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这一页要让听众看到“可以马上行动”。企业可以用脱敏后的 CAD 和工艺约束贡献场景，高校可以用实验室擅长的装配、拆解或线束任务贡献 benchmark。资料来源：IBERO方案第5节及表格1。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不要逐行念表格。重点指出：IBERO不把成功率废掉，而是在其上增加无损、安全和泛化指标，使结果更接近工业研发决策。资料来源：IBERO方案第6节及表格2。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首期种子场景要体现“平台可用”，而不是把路线图全部放在未来。四个场景覆盖从空间泛化到工业工艺；Baseline包括 ACT、Diffusion Policy、OpenVLA、π₀等主流策略基线。资料来源：IBERO方案第4.4节。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路线图可按时间顺序快速讲述。高校更容易在第二阶段加入场景共建，企业可以在第一阶段参与场景定义和物理约束，也可以在第二阶段提供脱敏工艺验证。资料来源：IBERO方案第7节。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建议：不要以“请大家支持我们”结束，而要以可执行邀请结束。请高校带来一个特色任务，请企业带来一个典型工艺或脱敏场景，请社区贡献数据、Baseline或评测方法。IBERO的价值来自共同参与后的标准化沉淀。资料来源：IBERO方案第1.2节、第5节、第7节及目标用户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15AF8613-84AC-45B4-9E7D-97B9BFF810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2C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9199CB-B66A-49DC-91F0-4440B99EA97F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0C2A40"/>
          </a:solidFill>
          <a:ln w="0">
            <a:noFill/>
          </a:ln>
        </p:spPr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02F9E679-4661-45D0-9FD3-1770FF6FC793}"/>
              </a:ext>
            </a:extLst>
          </p:cNvPr>
          <p:cNvSpPr>
            <a:spLocks noGrp="1"/>
          </p:cNvSpPr>
          <p:nvPr/>
        </p:nvSpPr>
        <p:spPr>
          <a:xfrm>
            <a:off x="7810500" y="857250"/>
            <a:ext cx="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482E22DC-C5A5-4FDB-8AE1-00F8CF9AEEE9}"/>
              </a:ext>
            </a:extLst>
          </p:cNvPr>
          <p:cNvSpPr>
            <a:spLocks noGrp="1"/>
          </p:cNvSpPr>
          <p:nvPr/>
        </p:nvSpPr>
        <p:spPr>
          <a:xfrm>
            <a:off x="8362950" y="857250"/>
            <a:ext cx="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91EC792F-90ED-4AD1-BBB3-0552AFA9F043}"/>
              </a:ext>
            </a:extLst>
          </p:cNvPr>
          <p:cNvSpPr>
            <a:spLocks noGrp="1"/>
          </p:cNvSpPr>
          <p:nvPr/>
        </p:nvSpPr>
        <p:spPr>
          <a:xfrm>
            <a:off x="8915400" y="857250"/>
            <a:ext cx="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E0C90154-A1D5-41D7-83D8-0229D4C9B661}"/>
              </a:ext>
            </a:extLst>
          </p:cNvPr>
          <p:cNvSpPr>
            <a:spLocks noGrp="1"/>
          </p:cNvSpPr>
          <p:nvPr/>
        </p:nvSpPr>
        <p:spPr>
          <a:xfrm>
            <a:off x="9467850" y="857250"/>
            <a:ext cx="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B47CBEC0-87ED-400B-900C-E05A2D022056}"/>
              </a:ext>
            </a:extLst>
          </p:cNvPr>
          <p:cNvSpPr>
            <a:spLocks noGrp="1"/>
          </p:cNvSpPr>
          <p:nvPr/>
        </p:nvSpPr>
        <p:spPr>
          <a:xfrm>
            <a:off x="10020300" y="857250"/>
            <a:ext cx="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99B6435C-0CBD-4EDB-8014-9DBB0C388C0A}"/>
              </a:ext>
            </a:extLst>
          </p:cNvPr>
          <p:cNvSpPr>
            <a:spLocks noGrp="1"/>
          </p:cNvSpPr>
          <p:nvPr/>
        </p:nvSpPr>
        <p:spPr>
          <a:xfrm>
            <a:off x="10572750" y="857250"/>
            <a:ext cx="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78B11CAB-22A0-47E3-9DD1-1506099B471F}"/>
              </a:ext>
            </a:extLst>
          </p:cNvPr>
          <p:cNvSpPr>
            <a:spLocks noGrp="1"/>
          </p:cNvSpPr>
          <p:nvPr/>
        </p:nvSpPr>
        <p:spPr>
          <a:xfrm>
            <a:off x="11125200" y="857250"/>
            <a:ext cx="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0" name="直线连接符 9">
            <a:extLst>
              <a:ext uri="{FF2B5EF4-FFF2-40B4-BE49-F238E27FC236}">
                <a16:creationId xmlns:a16="http://schemas.microsoft.com/office/drawing/2014/main" id="{69DEC21E-2C10-4573-B22E-80DD843EB984}"/>
              </a:ext>
            </a:extLst>
          </p:cNvPr>
          <p:cNvSpPr>
            <a:spLocks noGrp="1"/>
          </p:cNvSpPr>
          <p:nvPr/>
        </p:nvSpPr>
        <p:spPr>
          <a:xfrm>
            <a:off x="11677650" y="857250"/>
            <a:ext cx="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B4AFD1C0-7136-48C8-80E9-19D2ACFE783D}"/>
              </a:ext>
            </a:extLst>
          </p:cNvPr>
          <p:cNvSpPr>
            <a:spLocks noGrp="1"/>
          </p:cNvSpPr>
          <p:nvPr/>
        </p:nvSpPr>
        <p:spPr>
          <a:xfrm>
            <a:off x="7810500" y="1047750"/>
            <a:ext cx="34290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3726E171-4BEF-4D40-8074-4284F85A9340}"/>
              </a:ext>
            </a:extLst>
          </p:cNvPr>
          <p:cNvSpPr>
            <a:spLocks noGrp="1"/>
          </p:cNvSpPr>
          <p:nvPr/>
        </p:nvSpPr>
        <p:spPr>
          <a:xfrm>
            <a:off x="7810500" y="1809750"/>
            <a:ext cx="34290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3" name="直线连接符 12">
            <a:extLst>
              <a:ext uri="{FF2B5EF4-FFF2-40B4-BE49-F238E27FC236}">
                <a16:creationId xmlns:a16="http://schemas.microsoft.com/office/drawing/2014/main" id="{EBE4ED15-D8CF-4ADF-8FC4-5F06E9EE4571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34290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D77CB4E1-E618-4FDB-904C-1382DAE0E619}"/>
              </a:ext>
            </a:extLst>
          </p:cNvPr>
          <p:cNvSpPr>
            <a:spLocks noGrp="1"/>
          </p:cNvSpPr>
          <p:nvPr/>
        </p:nvSpPr>
        <p:spPr>
          <a:xfrm>
            <a:off x="7810500" y="3333750"/>
            <a:ext cx="34290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AC87A2A9-3C9D-4E01-BBF1-6EAD77B4BD9D}"/>
              </a:ext>
            </a:extLst>
          </p:cNvPr>
          <p:cNvSpPr>
            <a:spLocks noGrp="1"/>
          </p:cNvSpPr>
          <p:nvPr/>
        </p:nvSpPr>
        <p:spPr>
          <a:xfrm>
            <a:off x="7810500" y="4095750"/>
            <a:ext cx="34290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DEB1B50-84E1-427E-A40D-C1984DDDBC2C}"/>
              </a:ext>
            </a:extLst>
          </p:cNvPr>
          <p:cNvSpPr>
            <a:spLocks noGrp="1"/>
          </p:cNvSpPr>
          <p:nvPr/>
        </p:nvSpPr>
        <p:spPr>
          <a:xfrm>
            <a:off x="9525000" y="1666875"/>
            <a:ext cx="1333500" cy="1333500"/>
          </a:xfrm>
          <a:prstGeom prst="ellipse">
            <a:avLst/>
          </a:prstGeom>
          <a:solidFill>
            <a:srgbClr val="103A55"/>
          </a:solidFill>
          <a:ln w="0">
            <a:noFill/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054EDB0-F935-44B4-9F55-835A96C4FB2B}"/>
              </a:ext>
            </a:extLst>
          </p:cNvPr>
          <p:cNvSpPr>
            <a:spLocks noGrp="1"/>
          </p:cNvSpPr>
          <p:nvPr/>
        </p:nvSpPr>
        <p:spPr>
          <a:xfrm>
            <a:off x="9810750" y="1952625"/>
            <a:ext cx="762000" cy="762000"/>
          </a:xfrm>
          <a:prstGeom prst="ellipse">
            <a:avLst/>
          </a:prstGeom>
          <a:solidFill>
            <a:srgbClr val="47A8FF"/>
          </a:solidFill>
          <a:ln w="0">
            <a:noFill/>
          </a:ln>
        </p:spPr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4CF07B1-853C-4218-93E7-48B0B0A51881}"/>
              </a:ext>
            </a:extLst>
          </p:cNvPr>
          <p:cNvSpPr>
            <a:spLocks noGrp="1"/>
          </p:cNvSpPr>
          <p:nvPr/>
        </p:nvSpPr>
        <p:spPr>
          <a:xfrm>
            <a:off x="10287000" y="2428875"/>
            <a:ext cx="342900" cy="342900"/>
          </a:xfrm>
          <a:prstGeom prst="ellipse">
            <a:avLst/>
          </a:prstGeom>
          <a:solidFill>
            <a:srgbClr val="63D8D0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8C3EF4-5D5F-44B8-BEC2-200B92EE157A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528"/>
          </a:bodyPr>
          <a:lstStyle/>
          <a:p>
            <a:pPr algn="l">
              <a:lnSpc>
                <a:spcPct val="108000"/>
              </a:lnSpc>
              <a:buNone/>
              <a:defRPr sz="49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5D9214-8D63-431E-91B4-13F026A38206}"/>
              </a:ext>
            </a:extLst>
          </p:cNvPr>
          <p:cNvSpPr>
            <a:spLocks noGrp="1"/>
          </p:cNvSpPr>
          <p:nvPr/>
        </p:nvSpPr>
        <p:spPr>
          <a:xfrm>
            <a:off x="723900" y="1857375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工业级双臂具身智能操作基准平台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874395-F702-477D-99AF-B08EB0541D5F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Industrial Bimanual Embodied Robotic Operations Benchmark</a:t>
            </a:r>
          </a:p>
        </p:txBody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F9CCFA14-4876-4B27-8C08-5411CE58BF59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2857500" cy="0"/>
          </a:xfrm>
          <a:prstGeom prst="line">
            <a:avLst/>
          </a:prstGeom>
          <a:noFill/>
          <a:ln w="38100">
            <a:solidFill>
              <a:srgbClr val="47A8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EADFF2-E934-484F-8C06-87DDEB400B5C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神经符号人工智能社区的共享项目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9B3CDFF-6471-4C63-A525-F0ACDECC44D1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5810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350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把工业双臂操作的场景、数据、评测和工具链，变成可共同建设的开放基础设施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AC29DF-5BA1-436D-B2F7-BD5E82C1EC9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面向高校教授与工业界研发负责人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6C70DF-14C3-4B80-988E-A44D5A573C16}"/>
              </a:ext>
            </a:extLst>
          </p:cNvPr>
          <p:cNvSpPr>
            <a:spLocks noGrp="1"/>
          </p:cNvSpPr>
          <p:nvPr/>
        </p:nvSpPr>
        <p:spPr>
          <a:xfrm>
            <a:off x="10287000" y="619125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2026</a:t>
            </a:r>
          </a:p>
        </p:txBody>
      </p:sp>
    </p:spTree>
    <p:extLst>
      <p:ext uri="{BB962C8B-B14F-4D97-AF65-F5344CB8AC3E}">
        <p14:creationId xmlns:p14="http://schemas.microsoft.com/office/powerpoint/2010/main" val="57500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5A9068D8-23ED-418F-8A9D-62B8D879FD5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01 / WHY IBERO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A4BADA-ABF4-4A66-94CE-1706E40DBF5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工业双臂操作仍缺少可复用的共同标准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4283F453-9854-4EA0-8FAE-1153B0DB43DF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F133BD-A784-49E3-B1A5-9E33F6401409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04EF45-6916-4CF0-B270-71DEB97B39F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现有机器人基准更多回答“能不能抓起来”，工业现场需要回答“能否在约束下长期可靠地完成工艺”。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59026C7-BD24-480C-81F2-4AA50E039BDD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3314700" cy="2190750"/>
          </a:xfrm>
          <a:prstGeom prst="roundRect">
            <a:avLst>
              <a:gd name="adj" fmla="val 6087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03E33BE-2D21-4074-A750-AE15F064B35F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3314700" cy="76200"/>
          </a:xfrm>
          <a:prstGeom prst="roundRect">
            <a:avLst>
              <a:gd name="adj" fmla="val 50000"/>
            </a:avLst>
          </a:prstGeom>
          <a:solidFill>
            <a:srgbClr val="47A8FF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865CFC-975F-4B96-8E8D-54AFAC1BBFE2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学术基准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B95DD6-05AD-48D0-8114-61E1A6191B80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276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桌面单臂、低接触复杂度</a:t>
            </a:r>
          </a:p>
        </p:txBody>
      </p:sp>
      <p:sp>
        <p:nvSpPr>
          <p:cNvPr id="10" name="直线连接符 9">
            <a:extLst>
              <a:ext uri="{FF2B5EF4-FFF2-40B4-BE49-F238E27FC236}">
                <a16:creationId xmlns:a16="http://schemas.microsoft.com/office/drawing/2014/main" id="{88A150B9-04B0-4D74-96A9-20E9C9617FF2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280035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F1088A-01EA-4EAF-9F16-22FF598DAB13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难以覆盖双臂协同与高精度接触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E9D09DC-64A8-4C49-AE23-2989B4A72CC5}"/>
              </a:ext>
            </a:extLst>
          </p:cNvPr>
          <p:cNvSpPr>
            <a:spLocks noGrp="1"/>
          </p:cNvSpPr>
          <p:nvPr/>
        </p:nvSpPr>
        <p:spPr>
          <a:xfrm>
            <a:off x="4267200" y="2400300"/>
            <a:ext cx="3314700" cy="2190750"/>
          </a:xfrm>
          <a:prstGeom prst="roundRect">
            <a:avLst>
              <a:gd name="adj" fmla="val 6087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85B9F69-FBA1-40A5-BE91-0E919FDC90A5}"/>
              </a:ext>
            </a:extLst>
          </p:cNvPr>
          <p:cNvSpPr>
            <a:spLocks noGrp="1"/>
          </p:cNvSpPr>
          <p:nvPr/>
        </p:nvSpPr>
        <p:spPr>
          <a:xfrm>
            <a:off x="4267200" y="2400300"/>
            <a:ext cx="33147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59B3CB-F155-4BE1-A2AA-0EBEE5AA4D44}"/>
              </a:ext>
            </a:extLst>
          </p:cNvPr>
          <p:cNvSpPr>
            <a:spLocks noGrp="1"/>
          </p:cNvSpPr>
          <p:nvPr/>
        </p:nvSpPr>
        <p:spPr>
          <a:xfrm>
            <a:off x="4514850" y="270510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工业现场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10BD47-ED21-4733-8859-E7483AE48BCF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276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931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高混合、小批量、旧件非标</a:t>
            </a:r>
          </a:p>
        </p:txBody>
      </p:sp>
      <p:sp>
        <p:nvSpPr>
          <p:cNvPr id="16" name="直线连接符 15">
            <a:extLst>
              <a:ext uri="{FF2B5EF4-FFF2-40B4-BE49-F238E27FC236}">
                <a16:creationId xmlns:a16="http://schemas.microsoft.com/office/drawing/2014/main" id="{14FAEE5F-6154-44A0-B1DA-8D2D19E80331}"/>
              </a:ext>
            </a:extLst>
          </p:cNvPr>
          <p:cNvSpPr>
            <a:spLocks noGrp="1"/>
          </p:cNvSpPr>
          <p:nvPr/>
        </p:nvSpPr>
        <p:spPr>
          <a:xfrm>
            <a:off x="4514850" y="3886200"/>
            <a:ext cx="280035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FB2A93-D12A-48B8-9CFA-3EDCFCA23516}"/>
              </a:ext>
            </a:extLst>
          </p:cNvPr>
          <p:cNvSpPr>
            <a:spLocks noGrp="1"/>
          </p:cNvSpPr>
          <p:nvPr/>
        </p:nvSpPr>
        <p:spPr>
          <a:xfrm>
            <a:off x="4514850" y="40767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固定预编程难以适应换线与磨损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5CCA40BF-05AE-4204-9D72-6FA1E479EFC5}"/>
              </a:ext>
            </a:extLst>
          </p:cNvPr>
          <p:cNvSpPr>
            <a:spLocks noGrp="1"/>
          </p:cNvSpPr>
          <p:nvPr/>
        </p:nvSpPr>
        <p:spPr>
          <a:xfrm>
            <a:off x="7924800" y="2400300"/>
            <a:ext cx="3314700" cy="2190750"/>
          </a:xfrm>
          <a:prstGeom prst="roundRect">
            <a:avLst>
              <a:gd name="adj" fmla="val 6087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50B7112-7DC1-48ED-8D2A-0F5D396E5FB3}"/>
              </a:ext>
            </a:extLst>
          </p:cNvPr>
          <p:cNvSpPr>
            <a:spLocks noGrp="1"/>
          </p:cNvSpPr>
          <p:nvPr/>
        </p:nvSpPr>
        <p:spPr>
          <a:xfrm>
            <a:off x="7924800" y="2400300"/>
            <a:ext cx="3314700" cy="76200"/>
          </a:xfrm>
          <a:prstGeom prst="roundRect">
            <a:avLst>
              <a:gd name="adj" fmla="val 50000"/>
            </a:avLst>
          </a:prstGeom>
          <a:solidFill>
            <a:srgbClr val="63D8D0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E3F8E9-378E-4D98-8EBB-469789E4C761}"/>
              </a:ext>
            </a:extLst>
          </p:cNvPr>
          <p:cNvSpPr>
            <a:spLocks noGrp="1"/>
          </p:cNvSpPr>
          <p:nvPr/>
        </p:nvSpPr>
        <p:spPr>
          <a:xfrm>
            <a:off x="8172450" y="270510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循环再制造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F00D4E-65D5-48A3-8A43-FC4AEDD34ACA}"/>
              </a:ext>
            </a:extLst>
          </p:cNvPr>
          <p:cNvSpPr>
            <a:spLocks noGrp="1"/>
          </p:cNvSpPr>
          <p:nvPr/>
        </p:nvSpPr>
        <p:spPr>
          <a:xfrm>
            <a:off x="8172450" y="3219450"/>
            <a:ext cx="276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拆解、分离、无损回收</a:t>
            </a:r>
          </a:p>
        </p:txBody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D86B1368-92D7-44B6-99E2-01257CBF5AB2}"/>
              </a:ext>
            </a:extLst>
          </p:cNvPr>
          <p:cNvSpPr>
            <a:spLocks noGrp="1"/>
          </p:cNvSpPr>
          <p:nvPr/>
        </p:nvSpPr>
        <p:spPr>
          <a:xfrm>
            <a:off x="8172450" y="3886200"/>
            <a:ext cx="280035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5F32C3-1D74-4801-BE1D-B176D016777A}"/>
              </a:ext>
            </a:extLst>
          </p:cNvPr>
          <p:cNvSpPr>
            <a:spLocks noGrp="1"/>
          </p:cNvSpPr>
          <p:nvPr/>
        </p:nvSpPr>
        <p:spPr>
          <a:xfrm>
            <a:off x="8172450" y="40767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成功率之外还要保护高价值零件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5F1103-193B-4ACD-906A-04844D64CFA6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367A645-10F9-4E81-8CD2-0685FECC26FC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62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 dirty="0" err="1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一个同时覆盖空间泛化、精密装配、自适应拆解、绿色再制造与高保真接触力控的工业双臂基准</a:t>
            </a:r>
            <a:endParaRPr sz="1650" b="1" i="0" dirty="0">
              <a:solidFill>
                <a:srgbClr val="F5FAF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3EA192E-5234-4A4F-8492-1B95A0CA12B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62520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76F2689-FA87-4790-A822-BD25F9EB2CD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02 / MISSION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0F9E14-C09B-404F-9D76-75C22CEE27B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IBERO把工业双臂操作变成可共同建设的开放基准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13C46AA1-045A-41FA-9B64-6D3990029DB4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D4C79E-71BC-4A6B-A7E2-4C752256DC1C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C2094F-C7BC-418F-B92C-780C352ECA1E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平台使命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3F15A8-EA0A-47D0-A106-C4B8A06BAA20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6477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用统一的物理底座、场景规范、数据工具和评测指标，让不同团队可以在同一问题上复现、比较和协作。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481EE77-8DFC-4C7B-9142-ABDBEC9741A3}"/>
              </a:ext>
            </a:extLst>
          </p:cNvPr>
          <p:cNvSpPr>
            <a:spLocks noGrp="1"/>
          </p:cNvSpPr>
          <p:nvPr/>
        </p:nvSpPr>
        <p:spPr>
          <a:xfrm>
            <a:off x="7524750" y="1348427"/>
            <a:ext cx="171450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87048C-71D9-4837-AFC3-B8B26D5B0AD7}"/>
              </a:ext>
            </a:extLst>
          </p:cNvPr>
          <p:cNvSpPr>
            <a:spLocks noGrp="1"/>
          </p:cNvSpPr>
          <p:nvPr/>
        </p:nvSpPr>
        <p:spPr>
          <a:xfrm>
            <a:off x="7696200" y="1519877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Industrial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E52B00-D708-4ABB-BD28-B69676EAA6E4}"/>
              </a:ext>
            </a:extLst>
          </p:cNvPr>
          <p:cNvSpPr>
            <a:spLocks noGrp="1"/>
          </p:cNvSpPr>
          <p:nvPr/>
        </p:nvSpPr>
        <p:spPr>
          <a:xfrm>
            <a:off x="7696200" y="1881827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面向制造与绿色循环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AD5866B-453D-46B2-8732-BE0C4659860D}"/>
              </a:ext>
            </a:extLst>
          </p:cNvPr>
          <p:cNvSpPr>
            <a:spLocks noGrp="1"/>
          </p:cNvSpPr>
          <p:nvPr/>
        </p:nvSpPr>
        <p:spPr>
          <a:xfrm>
            <a:off x="9477375" y="1348427"/>
            <a:ext cx="171450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A94F67-3F09-4A61-96DD-8FE2911C75D0}"/>
              </a:ext>
            </a:extLst>
          </p:cNvPr>
          <p:cNvSpPr>
            <a:spLocks noGrp="1"/>
          </p:cNvSpPr>
          <p:nvPr/>
        </p:nvSpPr>
        <p:spPr>
          <a:xfrm>
            <a:off x="9648825" y="1519877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Bimanual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3C2B43-8982-424A-8A3B-933BAD4F081B}"/>
              </a:ext>
            </a:extLst>
          </p:cNvPr>
          <p:cNvSpPr>
            <a:spLocks noGrp="1"/>
          </p:cNvSpPr>
          <p:nvPr/>
        </p:nvSpPr>
        <p:spPr>
          <a:xfrm>
            <a:off x="9648825" y="1881827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强调双臂分工与内力协同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2648117-AC5B-40E9-B548-AD921BC3BD63}"/>
              </a:ext>
            </a:extLst>
          </p:cNvPr>
          <p:cNvSpPr>
            <a:spLocks noGrp="1"/>
          </p:cNvSpPr>
          <p:nvPr/>
        </p:nvSpPr>
        <p:spPr>
          <a:xfrm>
            <a:off x="7524750" y="2579465"/>
            <a:ext cx="171450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C258AF-9444-4F29-A808-32CFFFB99A1D}"/>
              </a:ext>
            </a:extLst>
          </p:cNvPr>
          <p:cNvSpPr>
            <a:spLocks noGrp="1"/>
          </p:cNvSpPr>
          <p:nvPr/>
        </p:nvSpPr>
        <p:spPr>
          <a:xfrm>
            <a:off x="7696200" y="275091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Embodied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03A55E-F903-47CE-9A81-35AA2A5A8056}"/>
              </a:ext>
            </a:extLst>
          </p:cNvPr>
          <p:cNvSpPr>
            <a:spLocks noGrp="1"/>
          </p:cNvSpPr>
          <p:nvPr/>
        </p:nvSpPr>
        <p:spPr>
          <a:xfrm>
            <a:off x="7696200" y="3112865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连接感知、动作与物理约束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2E5DEB1-BE41-48FC-88A6-E77B92894808}"/>
              </a:ext>
            </a:extLst>
          </p:cNvPr>
          <p:cNvSpPr>
            <a:spLocks noGrp="1"/>
          </p:cNvSpPr>
          <p:nvPr/>
        </p:nvSpPr>
        <p:spPr>
          <a:xfrm>
            <a:off x="9477375" y="2579465"/>
            <a:ext cx="171450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EB53CC-CC72-4EEA-8B4A-C53E445AD3D1}"/>
              </a:ext>
            </a:extLst>
          </p:cNvPr>
          <p:cNvSpPr>
            <a:spLocks noGrp="1"/>
          </p:cNvSpPr>
          <p:nvPr/>
        </p:nvSpPr>
        <p:spPr>
          <a:xfrm>
            <a:off x="9648825" y="275091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Benchmark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F30578-96D4-4DAF-B228-8C94214AE25F}"/>
              </a:ext>
            </a:extLst>
          </p:cNvPr>
          <p:cNvSpPr>
            <a:spLocks noGrp="1"/>
          </p:cNvSpPr>
          <p:nvPr/>
        </p:nvSpPr>
        <p:spPr>
          <a:xfrm>
            <a:off x="9648825" y="3112865"/>
            <a:ext cx="1381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提供可复现的比较标准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55487F9C-863B-445B-BF23-BDB97D63043E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94BBF2-A9BF-4050-812C-6FA553823691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平台方负责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620516-70F2-4E28-9B00-D69ADDC543F7}"/>
              </a:ext>
            </a:extLst>
          </p:cNvPr>
          <p:cNvSpPr>
            <a:spLocks noGrp="1"/>
          </p:cNvSpPr>
          <p:nvPr/>
        </p:nvSpPr>
        <p:spPr>
          <a:xfrm>
            <a:off x="2343150" y="4057650"/>
            <a:ext cx="8763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双臂高保真物理与力控底座 · 示教采集管线 · 场景接入规范 · 自动化评测 CI/CD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E0E2FD-95EF-4526-BACF-695C900FA1FF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社区方贡献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BA9F63-7D64-45E2-A28D-E983A65C9D9E}"/>
              </a:ext>
            </a:extLst>
          </p:cNvPr>
          <p:cNvSpPr>
            <a:spLocks noGrp="1"/>
          </p:cNvSpPr>
          <p:nvPr/>
        </p:nvSpPr>
        <p:spPr>
          <a:xfrm>
            <a:off x="2343150" y="4648200"/>
            <a:ext cx="8763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精密装配、无损拆解、绿色再制造等垂直工业场景，以及算法、数据和评测方法。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25A658-5186-44DC-AA79-0B38CE875807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共同结果：开放、标准化、可持续演进的工业具身评测生态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DFE6FB-399F-417B-B2FD-4CB5C347F3D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165340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81DCA34-53C5-489A-97F7-F642733E127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03 / PLATFORM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33E28B-1C8C-442D-9A65-318306CA235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一个平台，连接物理底座、场景库、数据工具和评测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98164D89-3E6C-45EC-BFB6-52860ECB5B74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8200FC-F600-4958-AB44-3957F7811DCC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C70877-FD97-4787-83D7-AA454431716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IBERO的价值不在于单个模型，而在于把“研究问题”组织成可复用的工程闭环。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359E186-4AEA-4129-A1A9-D91B5068BD3B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10287000" cy="781050"/>
          </a:xfrm>
          <a:prstGeom prst="roundRect">
            <a:avLst>
              <a:gd name="adj" fmla="val 14634"/>
            </a:avLst>
          </a:prstGeom>
          <a:solidFill>
            <a:srgbClr val="174A66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B5129DD-CB50-4DFD-AA54-F2126FCB51BF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76200" cy="781050"/>
          </a:xfrm>
          <a:prstGeom prst="roundRect">
            <a:avLst>
              <a:gd name="adj" fmla="val 50000"/>
            </a:avLst>
          </a:prstGeom>
          <a:solidFill>
            <a:srgbClr val="63D8D0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2EF898-730A-4956-814E-D8CF10329EEC}"/>
              </a:ext>
            </a:extLst>
          </p:cNvPr>
          <p:cNvSpPr>
            <a:spLocks noGrp="1"/>
          </p:cNvSpPr>
          <p:nvPr/>
        </p:nvSpPr>
        <p:spPr>
          <a:xfrm>
            <a:off x="1104900" y="2371725"/>
            <a:ext cx="9829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IBERO-Eval &amp; Leaderboard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D3749E-5CB3-4B96-ACBE-6E60366256BA}"/>
              </a:ext>
            </a:extLst>
          </p:cNvPr>
          <p:cNvSpPr>
            <a:spLocks noGrp="1"/>
          </p:cNvSpPr>
          <p:nvPr/>
        </p:nvSpPr>
        <p:spPr>
          <a:xfrm>
            <a:off x="1104900" y="2695575"/>
            <a:ext cx="9829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任务完成率 · 工件无损率 · 接触力控 · 自碰撞安全 · 泛化换线度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0F1039D-1E16-49EC-9DC4-374EED719F06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0287000" cy="876300"/>
          </a:xfrm>
          <a:prstGeom prst="roundRect">
            <a:avLst>
              <a:gd name="adj" fmla="val 13043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1F2FAEB-03C4-423A-9572-744712F0499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76200" cy="876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8BA46A-A88E-4B5D-8398-49C7BA176738}"/>
              </a:ext>
            </a:extLst>
          </p:cNvPr>
          <p:cNvSpPr>
            <a:spLocks noGrp="1"/>
          </p:cNvSpPr>
          <p:nvPr/>
        </p:nvSpPr>
        <p:spPr>
          <a:xfrm>
            <a:off x="1104900" y="3314700"/>
            <a:ext cx="9829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IBERO-Suites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CB159F-6921-44B5-8D65-222F004ABD66}"/>
              </a:ext>
            </a:extLst>
          </p:cNvPr>
          <p:cNvSpPr>
            <a:spLocks noGrp="1"/>
          </p:cNvSpPr>
          <p:nvPr/>
        </p:nvSpPr>
        <p:spPr>
          <a:xfrm>
            <a:off x="1104900" y="3638550"/>
            <a:ext cx="9829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Spatial / Object / Assembly / Disassembly / Reman / Harness / LongHorizon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C053505-81A4-40AC-92A1-6AC2A83E8193}"/>
              </a:ext>
            </a:extLst>
          </p:cNvPr>
          <p:cNvSpPr>
            <a:spLocks noGrp="1"/>
          </p:cNvSpPr>
          <p:nvPr/>
        </p:nvSpPr>
        <p:spPr>
          <a:xfrm>
            <a:off x="876300" y="4219575"/>
            <a:ext cx="10287000" cy="876300"/>
          </a:xfrm>
          <a:prstGeom prst="roundRect">
            <a:avLst>
              <a:gd name="adj" fmla="val 13043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79A8A4B-7360-4EC3-B1AB-A4F7FAA16C88}"/>
              </a:ext>
            </a:extLst>
          </p:cNvPr>
          <p:cNvSpPr>
            <a:spLocks noGrp="1"/>
          </p:cNvSpPr>
          <p:nvPr/>
        </p:nvSpPr>
        <p:spPr>
          <a:xfrm>
            <a:off x="876300" y="4219575"/>
            <a:ext cx="76200" cy="876300"/>
          </a:xfrm>
          <a:prstGeom prst="roundRect">
            <a:avLst>
              <a:gd name="adj" fmla="val 50000"/>
            </a:avLst>
          </a:prstGeom>
          <a:solidFill>
            <a:srgbClr val="47A8FF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F20D52-A801-4144-8A43-05CE93E3B48A}"/>
              </a:ext>
            </a:extLst>
          </p:cNvPr>
          <p:cNvSpPr>
            <a:spLocks noGrp="1"/>
          </p:cNvSpPr>
          <p:nvPr/>
        </p:nvSpPr>
        <p:spPr>
          <a:xfrm>
            <a:off x="1104900" y="4352925"/>
            <a:ext cx="9829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ibero-record &amp; ibero-cli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A7112A-9E6F-499F-8D76-DD2176448193}"/>
              </a:ext>
            </a:extLst>
          </p:cNvPr>
          <p:cNvSpPr>
            <a:spLocks noGrp="1"/>
          </p:cNvSpPr>
          <p:nvPr/>
        </p:nvSpPr>
        <p:spPr>
          <a:xfrm>
            <a:off x="1104900" y="4676775"/>
            <a:ext cx="9829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双臂同步遥操作 · LeRobot / HDF5 / Zarr 数据 · 场景校验 · CI/CD 接入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ACC95A7-B3A2-4C6D-9FC9-8DB5FA74512C}"/>
              </a:ext>
            </a:extLst>
          </p:cNvPr>
          <p:cNvSpPr>
            <a:spLocks noGrp="1"/>
          </p:cNvSpPr>
          <p:nvPr/>
        </p:nvSpPr>
        <p:spPr>
          <a:xfrm>
            <a:off x="876300" y="5257800"/>
            <a:ext cx="10287000" cy="781050"/>
          </a:xfrm>
          <a:prstGeom prst="roundRect">
            <a:avLst>
              <a:gd name="adj" fmla="val 14634"/>
            </a:avLst>
          </a:prstGeom>
          <a:solidFill>
            <a:srgbClr val="174A66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C1DEC748-753E-4EE1-9C87-D0F64F47124C}"/>
              </a:ext>
            </a:extLst>
          </p:cNvPr>
          <p:cNvSpPr>
            <a:spLocks noGrp="1"/>
          </p:cNvSpPr>
          <p:nvPr/>
        </p:nvSpPr>
        <p:spPr>
          <a:xfrm>
            <a:off x="876300" y="5257800"/>
            <a:ext cx="76200" cy="781050"/>
          </a:xfrm>
          <a:prstGeom prst="roundRect">
            <a:avLst>
              <a:gd name="adj" fmla="val 50000"/>
            </a:avLst>
          </a:prstGeom>
          <a:solidFill>
            <a:srgbClr val="63D8D0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C56F322-6554-41EB-AE4C-0F59FC0044AB}"/>
              </a:ext>
            </a:extLst>
          </p:cNvPr>
          <p:cNvSpPr>
            <a:spLocks noGrp="1"/>
          </p:cNvSpPr>
          <p:nvPr/>
        </p:nvSpPr>
        <p:spPr>
          <a:xfrm>
            <a:off x="1104900" y="5391150"/>
            <a:ext cx="9829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IBERO-Core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6D8410B-EC6B-465D-844D-823624B78619}"/>
              </a:ext>
            </a:extLst>
          </p:cNvPr>
          <p:cNvSpPr>
            <a:spLocks noGrp="1"/>
          </p:cNvSpPr>
          <p:nvPr/>
        </p:nvSpPr>
        <p:spPr>
          <a:xfrm>
            <a:off x="1104900" y="5715000"/>
            <a:ext cx="9829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双臂物理动力学 · 力位混合控制 · 公共工作空间 · ROS 2 / Gymnasium 接口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1BE9B4-3386-43A2-AA9B-448564C0F41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54443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FC38FA29-643A-417B-BCD5-B079DDA4CE4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04 / COMMUNITY VALUE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EBA61B-2A13-4A62-BB27-A83231253905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参与者得到什么：研究效率、工程验证与共同影响力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03F5DB16-242E-4B3B-9897-4DDD25E571B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C40273-A49E-45C3-96D4-5D15D217864C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A7A927-0963-4484-B0F3-2F894ABA66B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高校和企业参与IBERO，不只是“贡献场景”，而是获得一套可复用的研究与工程基础设施。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BB88F97-E66A-486D-8650-2D6E66C3DD11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0C2A40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18DB5A9-6C00-468B-BD12-32EBB86515B0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76200" cy="685800"/>
          </a:xfrm>
          <a:prstGeom prst="roundRect">
            <a:avLst>
              <a:gd name="adj" fmla="val 50000"/>
            </a:avLst>
          </a:prstGeom>
          <a:solidFill>
            <a:srgbClr val="47A8FF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7E5B57-58EB-45EF-B338-A9FA54F1E3A0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高校教授与科研团队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2DDAE6-BB42-49D3-83F1-83B720F68C32}"/>
              </a:ext>
            </a:extLst>
          </p:cNvPr>
          <p:cNvSpPr>
            <a:spLocks noGrp="1"/>
          </p:cNvSpPr>
          <p:nvPr/>
        </p:nvSpPr>
        <p:spPr>
          <a:xfrm>
            <a:off x="3352800" y="24098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降低工业具身课题门槛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2DA72D-3213-4216-A204-71C15F5BF018}"/>
              </a:ext>
            </a:extLst>
          </p:cNvPr>
          <p:cNvSpPr>
            <a:spLocks noGrp="1"/>
          </p:cNvSpPr>
          <p:nvPr/>
        </p:nvSpPr>
        <p:spPr>
          <a:xfrm>
            <a:off x="6115050" y="238125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标准数据、Baseline、公开评测；围绕新场景形成论文与基准成果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9670AD6-DB3C-4531-88FD-7B2B7CA472CD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AD41DE4-D997-467F-9436-B1CB6D64B26B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62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974527-3B6A-49E7-905B-281325F41274}"/>
              </a:ext>
            </a:extLst>
          </p:cNvPr>
          <p:cNvSpPr>
            <a:spLocks noGrp="1"/>
          </p:cNvSpPr>
          <p:nvPr/>
        </p:nvSpPr>
        <p:spPr>
          <a:xfrm>
            <a:off x="895350" y="323850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工业界研发负责人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BC36E0-F803-46A6-BE9E-CB7249892FA2}"/>
              </a:ext>
            </a:extLst>
          </p:cNvPr>
          <p:cNvSpPr>
            <a:spLocks noGrp="1"/>
          </p:cNvSpPr>
          <p:nvPr/>
        </p:nvSpPr>
        <p:spPr>
          <a:xfrm>
            <a:off x="3352800" y="32480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低风险验证真实工艺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D3F080-ACBB-4878-8763-053EB002216B}"/>
              </a:ext>
            </a:extLst>
          </p:cNvPr>
          <p:cNvSpPr>
            <a:spLocks noGrp="1"/>
          </p:cNvSpPr>
          <p:nvPr/>
        </p:nvSpPr>
        <p:spPr>
          <a:xfrm>
            <a:off x="6115050" y="321945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在数字孪生中评估换线、拆装和再制造可行性；沉淀企业 CAD 与工艺库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0F854CC-8C69-43F5-BCFC-CD49A6010D1E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0C2A40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8E96845-93C7-4BD3-9C9C-772B181A6444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76200" cy="685800"/>
          </a:xfrm>
          <a:prstGeom prst="roundRect">
            <a:avLst>
              <a:gd name="adj" fmla="val 50000"/>
            </a:avLst>
          </a:prstGeom>
          <a:solidFill>
            <a:srgbClr val="63D8D0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E75F30-83DA-4FD5-A391-5BA18BB8C01C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算法与具身策略团队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BE97D2-8C68-4DE8-ADE3-48D31AA20819}"/>
              </a:ext>
            </a:extLst>
          </p:cNvPr>
          <p:cNvSpPr>
            <a:spLocks noGrp="1"/>
          </p:cNvSpPr>
          <p:nvPr/>
        </p:nvSpPr>
        <p:spPr>
          <a:xfrm>
            <a:off x="3352800" y="40862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比较模型在工业约束下的能力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1D62CA-7158-4417-AC66-6E3A5DC4B0B5}"/>
              </a:ext>
            </a:extLst>
          </p:cNvPr>
          <p:cNvSpPr>
            <a:spLocks noGrp="1"/>
          </p:cNvSpPr>
          <p:nvPr/>
        </p:nvSpPr>
        <p:spPr>
          <a:xfrm>
            <a:off x="6115050" y="405765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测试少样本迁移、力觉融合、双臂协同与长时程策略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6047F0C1-B28D-4E71-B392-2D273835C9F9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8D224BFA-4135-4793-98FA-8955AB550B1C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76200" cy="685800"/>
          </a:xfrm>
          <a:prstGeom prst="roundRect">
            <a:avLst>
              <a:gd name="adj" fmla="val 50000"/>
            </a:avLst>
          </a:prstGeom>
          <a:solidFill>
            <a:srgbClr val="F5FAFD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EA94AB-4337-4DBE-B470-9249A6E4D4E6}"/>
              </a:ext>
            </a:extLst>
          </p:cNvPr>
          <p:cNvSpPr>
            <a:spLocks noGrp="1"/>
          </p:cNvSpPr>
          <p:nvPr/>
        </p:nvSpPr>
        <p:spPr>
          <a:xfrm>
            <a:off x="895350" y="491490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开源社区贡献者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B8E9F0-5700-43EC-A25C-DDAC8D5528B7}"/>
              </a:ext>
            </a:extLst>
          </p:cNvPr>
          <p:cNvSpPr>
            <a:spLocks noGrp="1"/>
          </p:cNvSpPr>
          <p:nvPr/>
        </p:nvSpPr>
        <p:spPr>
          <a:xfrm>
            <a:off x="3352800" y="49244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把特色能力变成标准场景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CDA02D-F342-4156-8352-B8D67EBB7B78}"/>
              </a:ext>
            </a:extLst>
          </p:cNvPr>
          <p:cNvSpPr>
            <a:spLocks noGrp="1"/>
          </p:cNvSpPr>
          <p:nvPr/>
        </p:nvSpPr>
        <p:spPr>
          <a:xfrm>
            <a:off x="6115050" y="489585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用 ibero-cli 接入场景，参与榜单与工业双臂挑战赛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6C5119-9751-4137-9C67-3B176E9EA636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共同收益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DA3302-C91B-4326-A42A-DAA641E4F724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把分散的实验、场景和工程经验，累积成可比较、可复现、可持续迭代的行业资产。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9F8367-431A-4324-93D4-C297F7E4C9C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1753874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4BB7A8A-23D9-4F84-B1A0-025311557A7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05 / 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BDC6E9-C798-4818-889E-ED9164C9541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分层解耦，让不同参与者在同一底座上协作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AFD3419B-A6BE-41FF-9C87-245DF84105F4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D65622-8203-472B-9854-6B938CFA3335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C9B854-41CE-4536-9E57-15F1477A930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从物理真实性到社区可扩展性，IBERO把变化最大的部分放在上层，把一致性要求最高的部分沉到Core。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1E568C8-B57E-4C3A-99C8-2C40E6DE0071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10363200" cy="723900"/>
          </a:xfrm>
          <a:prstGeom prst="roundRect">
            <a:avLst>
              <a:gd name="adj" fmla="val 13158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4496FD3-C3B0-4871-81F2-6213B6A861FB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95250" cy="723900"/>
          </a:xfrm>
          <a:prstGeom prst="roundRect">
            <a:avLst>
              <a:gd name="adj" fmla="val 50000"/>
            </a:avLst>
          </a:prstGeom>
          <a:solidFill>
            <a:srgbClr val="63D8D0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D9C3F9-61E4-4F62-A05E-ADFC98DD6B87}"/>
              </a:ext>
            </a:extLst>
          </p:cNvPr>
          <p:cNvSpPr>
            <a:spLocks noGrp="1"/>
          </p:cNvSpPr>
          <p:nvPr/>
        </p:nvSpPr>
        <p:spPr>
          <a:xfrm>
            <a:off x="1162050" y="230505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IBERO-Eval &amp; Leaderboard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E43A72-D895-4217-B447-380A82E7828E}"/>
              </a:ext>
            </a:extLst>
          </p:cNvPr>
          <p:cNvSpPr>
            <a:spLocks noGrp="1"/>
          </p:cNvSpPr>
          <p:nvPr/>
        </p:nvSpPr>
        <p:spPr>
          <a:xfrm>
            <a:off x="5848350" y="233362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用工业指标衡量完成、无损、安全与迁移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022E41-2E36-4410-A06C-B566DD9688B6}"/>
              </a:ext>
            </a:extLst>
          </p:cNvPr>
          <p:cNvSpPr>
            <a:spLocks noGrp="1"/>
          </p:cNvSpPr>
          <p:nvPr/>
        </p:nvSpPr>
        <p:spPr>
          <a:xfrm>
            <a:off x="5981700" y="286702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466"/>
          </a:bodyPr>
          <a:lstStyle/>
          <a:p>
            <a:pPr algn="ctr">
              <a:lnSpc>
                <a:spcPct val="108000"/>
              </a:lnSpc>
              <a:buNone/>
              <a:defRPr sz="14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↕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ECEE13A-C9CF-4456-A75E-3CB2BF02E811}"/>
              </a:ext>
            </a:extLst>
          </p:cNvPr>
          <p:cNvSpPr>
            <a:spLocks noGrp="1"/>
          </p:cNvSpPr>
          <p:nvPr/>
        </p:nvSpPr>
        <p:spPr>
          <a:xfrm>
            <a:off x="895350" y="2990850"/>
            <a:ext cx="10363200" cy="819150"/>
          </a:xfrm>
          <a:prstGeom prst="roundRect">
            <a:avLst>
              <a:gd name="adj" fmla="val 11628"/>
            </a:avLst>
          </a:prstGeom>
          <a:solidFill>
            <a:srgbClr val="263C49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102F6C4-AC24-4027-8E66-1FF8A810313B}"/>
              </a:ext>
            </a:extLst>
          </p:cNvPr>
          <p:cNvSpPr>
            <a:spLocks noGrp="1"/>
          </p:cNvSpPr>
          <p:nvPr/>
        </p:nvSpPr>
        <p:spPr>
          <a:xfrm>
            <a:off x="895350" y="2990850"/>
            <a:ext cx="95250" cy="8191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3A5D5C-6AE8-4062-9332-213F7DDB9647}"/>
              </a:ext>
            </a:extLst>
          </p:cNvPr>
          <p:cNvSpPr>
            <a:spLocks noGrp="1"/>
          </p:cNvSpPr>
          <p:nvPr/>
        </p:nvSpPr>
        <p:spPr>
          <a:xfrm>
            <a:off x="1162050" y="314325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未来：神经符号工艺推理与形式化安全中间件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86E370-4049-44E8-999B-C6A927F3582C}"/>
              </a:ext>
            </a:extLst>
          </p:cNvPr>
          <p:cNvSpPr>
            <a:spLocks noGrp="1"/>
          </p:cNvSpPr>
          <p:nvPr/>
        </p:nvSpPr>
        <p:spPr>
          <a:xfrm>
            <a:off x="5848350" y="317182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长时序工艺编排 · 安全屏障 · CAD / 状态机接地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86135F-A326-4049-8B69-EAE19D873AB7}"/>
              </a:ext>
            </a:extLst>
          </p:cNvPr>
          <p:cNvSpPr>
            <a:spLocks noGrp="1"/>
          </p:cNvSpPr>
          <p:nvPr/>
        </p:nvSpPr>
        <p:spPr>
          <a:xfrm>
            <a:off x="5981700" y="380047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466"/>
          </a:bodyPr>
          <a:lstStyle/>
          <a:p>
            <a:pPr algn="ctr">
              <a:lnSpc>
                <a:spcPct val="108000"/>
              </a:lnSpc>
              <a:buNone/>
              <a:defRPr sz="14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↕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F29DF53-157B-43AA-A2E3-29A8FAA39403}"/>
              </a:ext>
            </a:extLst>
          </p:cNvPr>
          <p:cNvSpPr>
            <a:spLocks noGrp="1"/>
          </p:cNvSpPr>
          <p:nvPr/>
        </p:nvSpPr>
        <p:spPr>
          <a:xfrm>
            <a:off x="895350" y="3924300"/>
            <a:ext cx="10363200" cy="990600"/>
          </a:xfrm>
          <a:prstGeom prst="roundRect">
            <a:avLst>
              <a:gd name="adj" fmla="val 9615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DDCF45C-A55D-4183-B822-DAB8A6FE0322}"/>
              </a:ext>
            </a:extLst>
          </p:cNvPr>
          <p:cNvSpPr>
            <a:spLocks noGrp="1"/>
          </p:cNvSpPr>
          <p:nvPr/>
        </p:nvSpPr>
        <p:spPr>
          <a:xfrm>
            <a:off x="895350" y="3924300"/>
            <a:ext cx="95250" cy="990600"/>
          </a:xfrm>
          <a:prstGeom prst="roundRect">
            <a:avLst>
              <a:gd name="adj" fmla="val 50000"/>
            </a:avLst>
          </a:prstGeom>
          <a:solidFill>
            <a:srgbClr val="47A8F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AAAD2D-385A-44F7-A257-D5CD5F0C6D47}"/>
              </a:ext>
            </a:extLst>
          </p:cNvPr>
          <p:cNvSpPr>
            <a:spLocks noGrp="1"/>
          </p:cNvSpPr>
          <p:nvPr/>
        </p:nvSpPr>
        <p:spPr>
          <a:xfrm>
            <a:off x="1162050" y="40767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IBERO-Suites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F82954-E778-478B-8CAB-8F02A2156E95}"/>
              </a:ext>
            </a:extLst>
          </p:cNvPr>
          <p:cNvSpPr>
            <a:spLocks noGrp="1"/>
          </p:cNvSpPr>
          <p:nvPr/>
        </p:nvSpPr>
        <p:spPr>
          <a:xfrm>
            <a:off x="5848350" y="41052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基础泛化维度 + 工业工艺维度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6A8907-E50F-4CC3-AC65-E1C2203EC498}"/>
              </a:ext>
            </a:extLst>
          </p:cNvPr>
          <p:cNvSpPr>
            <a:spLocks noGrp="1"/>
          </p:cNvSpPr>
          <p:nvPr/>
        </p:nvSpPr>
        <p:spPr>
          <a:xfrm>
            <a:off x="5981700" y="490537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466"/>
          </a:bodyPr>
          <a:lstStyle/>
          <a:p>
            <a:pPr algn="ctr">
              <a:lnSpc>
                <a:spcPct val="108000"/>
              </a:lnSpc>
              <a:buNone/>
              <a:defRPr sz="14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↕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9AD3A01-83F8-44F8-85DB-C8FCB2EC57C9}"/>
              </a:ext>
            </a:extLst>
          </p:cNvPr>
          <p:cNvSpPr>
            <a:spLocks noGrp="1"/>
          </p:cNvSpPr>
          <p:nvPr/>
        </p:nvSpPr>
        <p:spPr>
          <a:xfrm>
            <a:off x="895350" y="5029200"/>
            <a:ext cx="10363200" cy="895350"/>
          </a:xfrm>
          <a:prstGeom prst="roundRect">
            <a:avLst>
              <a:gd name="adj" fmla="val 10638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D7DED86-2D6F-4371-B749-2FC44D1ED9DB}"/>
              </a:ext>
            </a:extLst>
          </p:cNvPr>
          <p:cNvSpPr>
            <a:spLocks noGrp="1"/>
          </p:cNvSpPr>
          <p:nvPr/>
        </p:nvSpPr>
        <p:spPr>
          <a:xfrm>
            <a:off x="895350" y="5029200"/>
            <a:ext cx="95250" cy="895350"/>
          </a:xfrm>
          <a:prstGeom prst="roundRect">
            <a:avLst>
              <a:gd name="adj" fmla="val 50000"/>
            </a:avLst>
          </a:prstGeom>
          <a:solidFill>
            <a:srgbClr val="63D8D0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B5C6A7-BB20-43EC-A9FC-4A4BE8DD5D42}"/>
              </a:ext>
            </a:extLst>
          </p:cNvPr>
          <p:cNvSpPr>
            <a:spLocks noGrp="1"/>
          </p:cNvSpPr>
          <p:nvPr/>
        </p:nvSpPr>
        <p:spPr>
          <a:xfrm>
            <a:off x="1162050" y="51816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IBERO-Core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BCECFB2-A416-41B1-84BB-EFDA8174EBF7}"/>
              </a:ext>
            </a:extLst>
          </p:cNvPr>
          <p:cNvSpPr>
            <a:spLocks noGrp="1"/>
          </p:cNvSpPr>
          <p:nvPr/>
        </p:nvSpPr>
        <p:spPr>
          <a:xfrm>
            <a:off x="5848350" y="52101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物理仿真 · 双臂动力学 · 力位控制 · 统一接口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CC9007A-58B6-42DF-8841-0601816CF3DF}"/>
              </a:ext>
            </a:extLst>
          </p:cNvPr>
          <p:cNvSpPr>
            <a:spLocks noGrp="1"/>
          </p:cNvSpPr>
          <p:nvPr/>
        </p:nvSpPr>
        <p:spPr>
          <a:xfrm>
            <a:off x="895350" y="619125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014318-6B84-444A-8ECF-F73A4D288253}"/>
              </a:ext>
            </a:extLst>
          </p:cNvPr>
          <p:cNvSpPr>
            <a:spLocks noGrp="1"/>
          </p:cNvSpPr>
          <p:nvPr/>
        </p:nvSpPr>
        <p:spPr>
          <a:xfrm>
            <a:off x="2190750" y="6191250"/>
            <a:ext cx="590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底座统一、场景模块化、贡献可验证、指标可比较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38A08D-F9E5-4238-9C35-D69C5AACF58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135019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2B067BBE-F783-4F4A-9FA1-7737540336A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06 / CORE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3543E5-51BD-422E-8E62-3865A2DF967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IBERO-Core：把双臂协同的工业约束显式化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04E7218E-D8B4-49D5-8124-73A19D3C80C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39FF8B-B48E-4EA4-8E32-B6891F7F5AF4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206D55-2B60-4069-920E-E77F72D1534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工业任务的难点不只在目标位置，更在双臂共同施力时的接触、内力、干涉和损伤边界。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202953-07D0-4A72-B10C-536A90DC6C06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5105400" cy="1200150"/>
          </a:xfrm>
          <a:prstGeom prst="roundRect">
            <a:avLst>
              <a:gd name="adj" fmla="val 952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51D659F-5CFB-4DE4-BC11-AE4436240322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171450" cy="171450"/>
          </a:xfrm>
          <a:prstGeom prst="ellipse">
            <a:avLst/>
          </a:prstGeom>
          <a:solidFill>
            <a:srgbClr val="47A8FF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749F87-8329-471B-A82E-19163BABFFC3}"/>
              </a:ext>
            </a:extLst>
          </p:cNvPr>
          <p:cNvSpPr>
            <a:spLocks noGrp="1"/>
          </p:cNvSpPr>
          <p:nvPr/>
        </p:nvSpPr>
        <p:spPr>
          <a:xfrm>
            <a:off x="1219200" y="248602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双臂拓扑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AABC63-2408-4E79-A2BB-601821041FCE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双 Franka、双 UR5e / UR10e、ALOHA 与移动双臂复合底座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325A15F-7441-4B29-86B9-C4E4633C1DBC}"/>
              </a:ext>
            </a:extLst>
          </p:cNvPr>
          <p:cNvSpPr>
            <a:spLocks noGrp="1"/>
          </p:cNvSpPr>
          <p:nvPr/>
        </p:nvSpPr>
        <p:spPr>
          <a:xfrm>
            <a:off x="6096000" y="2286000"/>
            <a:ext cx="5105400" cy="1200150"/>
          </a:xfrm>
          <a:prstGeom prst="roundRect">
            <a:avLst>
              <a:gd name="adj" fmla="val 952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3407D28-A1D5-4177-9B6F-199853B826AD}"/>
              </a:ext>
            </a:extLst>
          </p:cNvPr>
          <p:cNvSpPr>
            <a:spLocks noGrp="1"/>
          </p:cNvSpPr>
          <p:nvPr/>
        </p:nvSpPr>
        <p:spPr>
          <a:xfrm>
            <a:off x="6362700" y="2533650"/>
            <a:ext cx="171450" cy="17145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D97D5D-F861-4165-B308-1C1C26D57FCE}"/>
              </a:ext>
            </a:extLst>
          </p:cNvPr>
          <p:cNvSpPr>
            <a:spLocks noGrp="1"/>
          </p:cNvSpPr>
          <p:nvPr/>
        </p:nvSpPr>
        <p:spPr>
          <a:xfrm>
            <a:off x="6705600" y="248602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接触力学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F9C629-CA30-485F-9B81-8532589EDFA6}"/>
              </a:ext>
            </a:extLst>
          </p:cNvPr>
          <p:cNvSpPr>
            <a:spLocks noGrp="1"/>
          </p:cNvSpPr>
          <p:nvPr/>
        </p:nvSpPr>
        <p:spPr>
          <a:xfrm>
            <a:off x="6362700" y="29146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微间隙、卡扣形变、胶粘剪切、螺纹旋入/旋出、磨损与形变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F84541B-128C-49D9-B0FC-B51DBF351930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105400" cy="1200150"/>
          </a:xfrm>
          <a:prstGeom prst="roundRect">
            <a:avLst>
              <a:gd name="adj" fmla="val 952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0A627B2-C5F2-46D3-85DC-357C26CF58DB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171450" cy="171450"/>
          </a:xfrm>
          <a:prstGeom prst="ellipse">
            <a:avLst/>
          </a:prstGeom>
          <a:solidFill>
            <a:srgbClr val="63D8D0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093B93-181A-4899-9996-D5FBF81ABEEE}"/>
              </a:ext>
            </a:extLst>
          </p:cNvPr>
          <p:cNvSpPr>
            <a:spLocks noGrp="1"/>
          </p:cNvSpPr>
          <p:nvPr/>
        </p:nvSpPr>
        <p:spPr>
          <a:xfrm>
            <a:off x="1219200" y="3952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力位协同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065A67-15E4-4472-A427-CEDA6CA92E27}"/>
              </a:ext>
            </a:extLst>
          </p:cNvPr>
          <p:cNvSpPr>
            <a:spLocks noGrp="1"/>
          </p:cNvSpPr>
          <p:nvPr/>
        </p:nvSpPr>
        <p:spPr>
          <a:xfrm>
            <a:off x="876300" y="43815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导纳 / 阻抗控制，一手支撑、一手旋出或拔插，抑制有害内力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60E81100-F59C-4B6D-A23A-8021FC4B85D1}"/>
              </a:ext>
            </a:extLst>
          </p:cNvPr>
          <p:cNvSpPr>
            <a:spLocks noGrp="1"/>
          </p:cNvSpPr>
          <p:nvPr/>
        </p:nvSpPr>
        <p:spPr>
          <a:xfrm>
            <a:off x="6096000" y="3752850"/>
            <a:ext cx="5105400" cy="1200150"/>
          </a:xfrm>
          <a:prstGeom prst="roundRect">
            <a:avLst>
              <a:gd name="adj" fmla="val 952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E7A4B28-27D8-437D-9D40-A6AACDE08EE6}"/>
              </a:ext>
            </a:extLst>
          </p:cNvPr>
          <p:cNvSpPr>
            <a:spLocks noGrp="1"/>
          </p:cNvSpPr>
          <p:nvPr/>
        </p:nvSpPr>
        <p:spPr>
          <a:xfrm>
            <a:off x="6362700" y="4000500"/>
            <a:ext cx="171450" cy="171450"/>
          </a:xfrm>
          <a:prstGeom prst="ellipse">
            <a:avLst/>
          </a:prstGeom>
          <a:solidFill>
            <a:srgbClr val="F5FAFD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DA6F8E-F9A5-4508-BE55-4BFC6E49AA32}"/>
              </a:ext>
            </a:extLst>
          </p:cNvPr>
          <p:cNvSpPr>
            <a:spLocks noGrp="1"/>
          </p:cNvSpPr>
          <p:nvPr/>
        </p:nvSpPr>
        <p:spPr>
          <a:xfrm>
            <a:off x="6705600" y="3952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09F5DDE-293C-4E9B-B9D0-53EFE06164FF}"/>
              </a:ext>
            </a:extLst>
          </p:cNvPr>
          <p:cNvSpPr>
            <a:spLocks noGrp="1"/>
          </p:cNvSpPr>
          <p:nvPr/>
        </p:nvSpPr>
        <p:spPr>
          <a:xfrm>
            <a:off x="6362700" y="43815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6轴 F/T 传感器模拟、公共工作空间检测、动态防自碰撞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9521B3B-B4B2-4B86-81BA-CCF77E813107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接口目标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B668B477-6C60-40AA-AEBC-8C1BED621F81}"/>
              </a:ext>
            </a:extLst>
          </p:cNvPr>
          <p:cNvSpPr>
            <a:spLocks noGrp="1"/>
          </p:cNvSpPr>
          <p:nvPr/>
        </p:nvSpPr>
        <p:spPr>
          <a:xfrm>
            <a:off x="1952625" y="54292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174A66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066181D-FDD1-4E54-8CFA-7F23B39C9AF4}"/>
              </a:ext>
            </a:extLst>
          </p:cNvPr>
          <p:cNvSpPr>
            <a:spLocks noGrp="1"/>
          </p:cNvSpPr>
          <p:nvPr/>
        </p:nvSpPr>
        <p:spPr>
          <a:xfrm>
            <a:off x="2047875" y="5476875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Gymnasium API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FCCAC240-A0E5-433F-878A-4D7E7FFF3B60}"/>
              </a:ext>
            </a:extLst>
          </p:cNvPr>
          <p:cNvSpPr>
            <a:spLocks noGrp="1"/>
          </p:cNvSpPr>
          <p:nvPr/>
        </p:nvSpPr>
        <p:spPr>
          <a:xfrm>
            <a:off x="3571875" y="5429250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174A66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7CAF33-139D-408E-A474-3F8FFF02592A}"/>
              </a:ext>
            </a:extLst>
          </p:cNvPr>
          <p:cNvSpPr>
            <a:spLocks noGrp="1"/>
          </p:cNvSpPr>
          <p:nvPr/>
        </p:nvSpPr>
        <p:spPr>
          <a:xfrm>
            <a:off x="3667125" y="5476875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ROS 2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528C771F-2887-47BF-B257-8CB1AF0DE14D}"/>
              </a:ext>
            </a:extLst>
          </p:cNvPr>
          <p:cNvSpPr>
            <a:spLocks noGrp="1"/>
          </p:cNvSpPr>
          <p:nvPr/>
        </p:nvSpPr>
        <p:spPr>
          <a:xfrm>
            <a:off x="4619625" y="5429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174A66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410D5E-ACB6-4DB5-A7CE-7BD146A10488}"/>
              </a:ext>
            </a:extLst>
          </p:cNvPr>
          <p:cNvSpPr>
            <a:spLocks noGrp="1"/>
          </p:cNvSpPr>
          <p:nvPr/>
        </p:nvSpPr>
        <p:spPr>
          <a:xfrm>
            <a:off x="4714875" y="5476875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LeRobot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1428B4D-8CF4-4F73-A2B7-2809F72A139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让算法团队、仿真团队和机器人集成团队可以在同一动作与数据接口上协作。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7B8785E-EC69-4E46-8DE2-3C6AD1E921F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26281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9744A7-90BC-051D-443A-20DBE8A28968}"/>
              </a:ext>
            </a:extLst>
          </p:cNvPr>
          <p:cNvSpPr txBox="1"/>
          <p:nvPr/>
        </p:nvSpPr>
        <p:spPr>
          <a:xfrm>
            <a:off x="4964921" y="37070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软硬件架构：王志刚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50D0D7-1C90-8581-D7E3-359C647753B7}"/>
              </a:ext>
            </a:extLst>
          </p:cNvPr>
          <p:cNvSpPr txBox="1"/>
          <p:nvPr/>
        </p:nvSpPr>
        <p:spPr>
          <a:xfrm>
            <a:off x="4559874" y="3244334"/>
            <a:ext cx="3072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文字或图发给我统一生成</a:t>
            </a:r>
            <a:r>
              <a:rPr kumimoji="1" lang="en-US" altLang="zh-CN" dirty="0"/>
              <a:t>PPT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047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4CCE80-EB54-C832-2F4A-7B4BD1BBD8EE}"/>
              </a:ext>
            </a:extLst>
          </p:cNvPr>
          <p:cNvSpPr txBox="1"/>
          <p:nvPr/>
        </p:nvSpPr>
        <p:spPr>
          <a:xfrm>
            <a:off x="4157006" y="358344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仿真器选择：彭颜龙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接触力、形变、摩擦力等如何加入？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12BE8B-8161-5F76-918C-FE7BD94E3B5B}"/>
              </a:ext>
            </a:extLst>
          </p:cNvPr>
          <p:cNvSpPr txBox="1"/>
          <p:nvPr/>
        </p:nvSpPr>
        <p:spPr>
          <a:xfrm>
            <a:off x="4559874" y="3244334"/>
            <a:ext cx="3072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文字或图发给我统一生成</a:t>
            </a:r>
            <a:r>
              <a:rPr kumimoji="1" lang="en-US" altLang="zh-CN" dirty="0"/>
              <a:t>PPT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7627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8B58-78CB-0241-C691-0197D0C90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11C8A3-AB46-652E-B54A-3580EB0E54E5}"/>
              </a:ext>
            </a:extLst>
          </p:cNvPr>
          <p:cNvSpPr txBox="1"/>
          <p:nvPr/>
        </p:nvSpPr>
        <p:spPr>
          <a:xfrm>
            <a:off x="5195752" y="39541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接口定义：顾凯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D0A10D-06EA-8D5D-D4A4-F14611E286C2}"/>
              </a:ext>
            </a:extLst>
          </p:cNvPr>
          <p:cNvSpPr txBox="1"/>
          <p:nvPr/>
        </p:nvSpPr>
        <p:spPr>
          <a:xfrm>
            <a:off x="4559874" y="3244334"/>
            <a:ext cx="3072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文字或图发给我统一生成</a:t>
            </a:r>
            <a:r>
              <a:rPr kumimoji="1" lang="en-US" altLang="zh-CN" dirty="0"/>
              <a:t>PPT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5822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5434-0E4A-8722-B20F-ED638AD7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D612E2-2FCF-8BC6-63EB-DB8134C582B9}"/>
              </a:ext>
            </a:extLst>
          </p:cNvPr>
          <p:cNvSpPr txBox="1"/>
          <p:nvPr/>
        </p:nvSpPr>
        <p:spPr>
          <a:xfrm>
            <a:off x="4849504" y="39541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第一场景示范：张洪申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71241C-E496-DFCD-971E-9DDFC5988C6A}"/>
              </a:ext>
            </a:extLst>
          </p:cNvPr>
          <p:cNvSpPr txBox="1"/>
          <p:nvPr/>
        </p:nvSpPr>
        <p:spPr>
          <a:xfrm>
            <a:off x="4559874" y="3244334"/>
            <a:ext cx="3072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文字或图发给我统一生成</a:t>
            </a:r>
            <a:r>
              <a:rPr kumimoji="1" lang="en-US" altLang="zh-CN" dirty="0"/>
              <a:t>PPT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6807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DFD30671-E6BB-4A34-B7E7-C1AD08B298B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07 / BENCHMARK SUITES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F84B92-E71E-4944-8CDD-37322DB674B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从基础泛化到全生命周期工艺，形成场景矩阵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4B64F48-F605-4D9C-8E2D-7A5D20FE2481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F9F00E-4612-4528-8409-C43E35E356E1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 dirty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D3293E-14E8-420B-9F9D-FC9F56FE378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场景套件把“算法能力”与“工业问题”分开组织，允许团队从基础能力进入，再逐步挑战真实工艺。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6F01157-F518-45E8-875F-48D6742625A9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241935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CF348F6-752D-4660-97F0-6B98B967773C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2419350" cy="66675"/>
          </a:xfrm>
          <a:prstGeom prst="roundRect">
            <a:avLst>
              <a:gd name="adj" fmla="val 50000"/>
            </a:avLst>
          </a:prstGeom>
          <a:solidFill>
            <a:srgbClr val="47A8FF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A6F292-0EF3-4DD4-9BA3-AF070753DE5C}"/>
              </a:ext>
            </a:extLst>
          </p:cNvPr>
          <p:cNvSpPr>
            <a:spLocks noGrp="1"/>
          </p:cNvSpPr>
          <p:nvPr/>
        </p:nvSpPr>
        <p:spPr>
          <a:xfrm>
            <a:off x="781050" y="2486025"/>
            <a:ext cx="2076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基础泛化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EE556E-307A-4911-8F45-E1228618DD04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IBERO-Spatial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837F6D-8778-4392-9230-DF91B8D659AB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双臂相对空间迁移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DA07DBA-54D6-4BC6-8776-66B9D9CAD5BC}"/>
              </a:ext>
            </a:extLst>
          </p:cNvPr>
          <p:cNvSpPr>
            <a:spLocks noGrp="1"/>
          </p:cNvSpPr>
          <p:nvPr/>
        </p:nvSpPr>
        <p:spPr>
          <a:xfrm>
            <a:off x="3352800" y="2305050"/>
            <a:ext cx="241935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D6D41A0-4F21-4D5E-A0FD-683A5AC5E9EC}"/>
              </a:ext>
            </a:extLst>
          </p:cNvPr>
          <p:cNvSpPr>
            <a:spLocks noGrp="1"/>
          </p:cNvSpPr>
          <p:nvPr/>
        </p:nvSpPr>
        <p:spPr>
          <a:xfrm>
            <a:off x="3352800" y="2305050"/>
            <a:ext cx="2419350" cy="66675"/>
          </a:xfrm>
          <a:prstGeom prst="roundRect">
            <a:avLst>
              <a:gd name="adj" fmla="val 50000"/>
            </a:avLst>
          </a:prstGeom>
          <a:solidFill>
            <a:srgbClr val="63D8D0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78DC36-836A-4796-8448-A3FD515C8B4D}"/>
              </a:ext>
            </a:extLst>
          </p:cNvPr>
          <p:cNvSpPr>
            <a:spLocks noGrp="1"/>
          </p:cNvSpPr>
          <p:nvPr/>
        </p:nvSpPr>
        <p:spPr>
          <a:xfrm>
            <a:off x="3524250" y="2486025"/>
            <a:ext cx="2076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工件泛化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66F5C0-6E3A-431E-813E-28393FBAA51C}"/>
              </a:ext>
            </a:extLst>
          </p:cNvPr>
          <p:cNvSpPr>
            <a:spLocks noGrp="1"/>
          </p:cNvSpPr>
          <p:nvPr/>
        </p:nvSpPr>
        <p:spPr>
          <a:xfrm>
            <a:off x="3524250" y="278130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IBERO-Object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84096E-79E2-48B1-9CE6-650AC7483951}"/>
              </a:ext>
            </a:extLst>
          </p:cNvPr>
          <p:cNvSpPr>
            <a:spLocks noGrp="1"/>
          </p:cNvSpPr>
          <p:nvPr/>
        </p:nvSpPr>
        <p:spPr>
          <a:xfrm>
            <a:off x="3524250" y="3105150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几何与外观变化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E6B9E3E-E71E-4CA0-B668-13CB83F06C7A}"/>
              </a:ext>
            </a:extLst>
          </p:cNvPr>
          <p:cNvSpPr>
            <a:spLocks noGrp="1"/>
          </p:cNvSpPr>
          <p:nvPr/>
        </p:nvSpPr>
        <p:spPr>
          <a:xfrm>
            <a:off x="6191250" y="2305050"/>
            <a:ext cx="241935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7CF697E-37AF-4400-A2AC-0DDA5DF33183}"/>
              </a:ext>
            </a:extLst>
          </p:cNvPr>
          <p:cNvSpPr>
            <a:spLocks noGrp="1"/>
          </p:cNvSpPr>
          <p:nvPr/>
        </p:nvSpPr>
        <p:spPr>
          <a:xfrm>
            <a:off x="6191250" y="2305050"/>
            <a:ext cx="2419350" cy="666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52458C-0457-41E7-A57F-D368B960CF5E}"/>
              </a:ext>
            </a:extLst>
          </p:cNvPr>
          <p:cNvSpPr>
            <a:spLocks noGrp="1"/>
          </p:cNvSpPr>
          <p:nvPr/>
        </p:nvSpPr>
        <p:spPr>
          <a:xfrm>
            <a:off x="6362700" y="2486025"/>
            <a:ext cx="2076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精密工艺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6B1BE9-A1E7-46F4-9B9F-85D1B1058261}"/>
              </a:ext>
            </a:extLst>
          </p:cNvPr>
          <p:cNvSpPr>
            <a:spLocks noGrp="1"/>
          </p:cNvSpPr>
          <p:nvPr/>
        </p:nvSpPr>
        <p:spPr>
          <a:xfrm>
            <a:off x="6362700" y="278130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IBERO-Assembly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F43543-243E-4112-B9D5-CAE569968CFA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销轴、卡扣与公差配合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413C5F36-8548-4B72-B937-49648D1335F0}"/>
              </a:ext>
            </a:extLst>
          </p:cNvPr>
          <p:cNvSpPr>
            <a:spLocks noGrp="1"/>
          </p:cNvSpPr>
          <p:nvPr/>
        </p:nvSpPr>
        <p:spPr>
          <a:xfrm>
            <a:off x="9029700" y="2305050"/>
            <a:ext cx="241935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EC81151-A616-4A09-A4BE-FB3033457D40}"/>
              </a:ext>
            </a:extLst>
          </p:cNvPr>
          <p:cNvSpPr>
            <a:spLocks noGrp="1"/>
          </p:cNvSpPr>
          <p:nvPr/>
        </p:nvSpPr>
        <p:spPr>
          <a:xfrm>
            <a:off x="9029700" y="2305050"/>
            <a:ext cx="2419350" cy="666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966190-81BB-43DF-B748-59DF1CCE9D3C}"/>
              </a:ext>
            </a:extLst>
          </p:cNvPr>
          <p:cNvSpPr>
            <a:spLocks noGrp="1"/>
          </p:cNvSpPr>
          <p:nvPr/>
        </p:nvSpPr>
        <p:spPr>
          <a:xfrm>
            <a:off x="9201150" y="2486025"/>
            <a:ext cx="2076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逆向工艺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6952BB-ED9D-4DA4-A20F-6A3AAD4098D8}"/>
              </a:ext>
            </a:extLst>
          </p:cNvPr>
          <p:cNvSpPr>
            <a:spLocks noGrp="1"/>
          </p:cNvSpPr>
          <p:nvPr/>
        </p:nvSpPr>
        <p:spPr>
          <a:xfrm>
            <a:off x="9201150" y="278130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IBERO-Disassembly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10568E-CBB1-4A13-94BC-5262A1AB1947}"/>
              </a:ext>
            </a:extLst>
          </p:cNvPr>
          <p:cNvSpPr>
            <a:spLocks noGrp="1"/>
          </p:cNvSpPr>
          <p:nvPr/>
        </p:nvSpPr>
        <p:spPr>
          <a:xfrm>
            <a:off x="9201150" y="3105150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旋卸、拆解与无损分离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CD53E5C9-20BC-423C-A196-3CE847CFDD5B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241935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CFAB9CD-CAA9-438D-9EAE-624E36D991F2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2419350" cy="66675"/>
          </a:xfrm>
          <a:prstGeom prst="roundRect">
            <a:avLst>
              <a:gd name="adj" fmla="val 50000"/>
            </a:avLst>
          </a:prstGeom>
          <a:solidFill>
            <a:srgbClr val="63D8D0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7D2BA39-428F-449B-857F-F4829C531A88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2076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绿色再制造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49B10EF-D1B5-4BA6-ACEA-9091AC1C30E5}"/>
              </a:ext>
            </a:extLst>
          </p:cNvPr>
          <p:cNvSpPr>
            <a:spLocks noGrp="1"/>
          </p:cNvSpPr>
          <p:nvPr/>
        </p:nvSpPr>
        <p:spPr>
          <a:xfrm>
            <a:off x="781050" y="413385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IBERO-Reman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7AC6BF4-9CD1-4EDA-A71C-8191685CB197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电池 / 3C 高价值部件回收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B59C33C0-92A7-4DEC-9597-0D08C770189D}"/>
              </a:ext>
            </a:extLst>
          </p:cNvPr>
          <p:cNvSpPr>
            <a:spLocks noGrp="1"/>
          </p:cNvSpPr>
          <p:nvPr/>
        </p:nvSpPr>
        <p:spPr>
          <a:xfrm>
            <a:off x="3352800" y="3657600"/>
            <a:ext cx="241935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4B6B6D74-7B29-408A-A430-B46EFB86AD5B}"/>
              </a:ext>
            </a:extLst>
          </p:cNvPr>
          <p:cNvSpPr>
            <a:spLocks noGrp="1"/>
          </p:cNvSpPr>
          <p:nvPr/>
        </p:nvSpPr>
        <p:spPr>
          <a:xfrm>
            <a:off x="3352800" y="3657600"/>
            <a:ext cx="2419350" cy="66675"/>
          </a:xfrm>
          <a:prstGeom prst="roundRect">
            <a:avLst>
              <a:gd name="adj" fmla="val 50000"/>
            </a:avLst>
          </a:prstGeom>
          <a:solidFill>
            <a:srgbClr val="47A8FF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F261B10-F224-4393-99AA-FC687B2CA189}"/>
              </a:ext>
            </a:extLst>
          </p:cNvPr>
          <p:cNvSpPr>
            <a:spLocks noGrp="1"/>
          </p:cNvSpPr>
          <p:nvPr/>
        </p:nvSpPr>
        <p:spPr>
          <a:xfrm>
            <a:off x="3524250" y="3838575"/>
            <a:ext cx="2076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柔性操作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3FD3AA-97C2-430A-B9AE-BD193FBEE550}"/>
              </a:ext>
            </a:extLst>
          </p:cNvPr>
          <p:cNvSpPr>
            <a:spLocks noGrp="1"/>
          </p:cNvSpPr>
          <p:nvPr/>
        </p:nvSpPr>
        <p:spPr>
          <a:xfrm>
            <a:off x="3524250" y="413385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IBERO-Harness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1403D94-5B10-42AA-8E3B-78E913AD92D6}"/>
              </a:ext>
            </a:extLst>
          </p:cNvPr>
          <p:cNvSpPr>
            <a:spLocks noGrp="1"/>
          </p:cNvSpPr>
          <p:nvPr/>
        </p:nvSpPr>
        <p:spPr>
          <a:xfrm>
            <a:off x="3524250" y="4457700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线束理线、穿引与对插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050BF6E-1342-4DF9-A7E3-DA70B16040EB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241935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0D8D4AAC-143E-4D74-AB08-EBCA2389C907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2419350" cy="66675"/>
          </a:xfrm>
          <a:prstGeom prst="roundRect">
            <a:avLst>
              <a:gd name="adj" fmla="val 50000"/>
            </a:avLst>
          </a:prstGeom>
          <a:solidFill>
            <a:srgbClr val="F5FAFD"/>
          </a:solidFill>
          <a:ln w="0">
            <a:noFill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F891A9C-179D-46C7-B2A7-180048997105}"/>
              </a:ext>
            </a:extLst>
          </p:cNvPr>
          <p:cNvSpPr>
            <a:spLocks noGrp="1"/>
          </p:cNvSpPr>
          <p:nvPr/>
        </p:nvSpPr>
        <p:spPr>
          <a:xfrm>
            <a:off x="6362700" y="3838575"/>
            <a:ext cx="2076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工具协同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A58144F-A5F2-4A71-AB83-A13EEB3D6282}"/>
              </a:ext>
            </a:extLst>
          </p:cNvPr>
          <p:cNvSpPr>
            <a:spLocks noGrp="1"/>
          </p:cNvSpPr>
          <p:nvPr/>
        </p:nvSpPr>
        <p:spPr>
          <a:xfrm>
            <a:off x="6362700" y="413385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IBERO-Tooling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1C50A-51AF-43E7-8ED7-FB61038DAEA5}"/>
              </a:ext>
            </a:extLst>
          </p:cNvPr>
          <p:cNvSpPr>
            <a:spLocks noGrp="1"/>
          </p:cNvSpPr>
          <p:nvPr/>
        </p:nvSpPr>
        <p:spPr>
          <a:xfrm>
            <a:off x="6362700" y="4457700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双臂辅助加工与工具使用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7BCB5C66-8253-473D-A5F1-2E28B8126C3E}"/>
              </a:ext>
            </a:extLst>
          </p:cNvPr>
          <p:cNvSpPr>
            <a:spLocks noGrp="1"/>
          </p:cNvSpPr>
          <p:nvPr/>
        </p:nvSpPr>
        <p:spPr>
          <a:xfrm>
            <a:off x="9029700" y="3657600"/>
            <a:ext cx="2419350" cy="1066800"/>
          </a:xfrm>
          <a:prstGeom prst="roundRect">
            <a:avLst>
              <a:gd name="adj" fmla="val 10714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9DAC4FF2-2E60-4CB5-B16B-056275D09BD7}"/>
              </a:ext>
            </a:extLst>
          </p:cNvPr>
          <p:cNvSpPr>
            <a:spLocks noGrp="1"/>
          </p:cNvSpPr>
          <p:nvPr/>
        </p:nvSpPr>
        <p:spPr>
          <a:xfrm>
            <a:off x="9029700" y="3657600"/>
            <a:ext cx="2419350" cy="66675"/>
          </a:xfrm>
          <a:prstGeom prst="roundRect">
            <a:avLst>
              <a:gd name="adj" fmla="val 50000"/>
            </a:avLst>
          </a:prstGeom>
          <a:solidFill>
            <a:srgbClr val="F5FAFD"/>
          </a:solidFill>
          <a:ln w="0">
            <a:noFill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E889E00-745E-4097-A7B5-A2E8B63DEB3A}"/>
              </a:ext>
            </a:extLst>
          </p:cNvPr>
          <p:cNvSpPr>
            <a:spLocks noGrp="1"/>
          </p:cNvSpPr>
          <p:nvPr/>
        </p:nvSpPr>
        <p:spPr>
          <a:xfrm>
            <a:off x="9201150" y="3838575"/>
            <a:ext cx="2076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长时程工艺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DA62745-C868-4A7B-8E44-E6D889C592C2}"/>
              </a:ext>
            </a:extLst>
          </p:cNvPr>
          <p:cNvSpPr>
            <a:spLocks noGrp="1"/>
          </p:cNvSpPr>
          <p:nvPr/>
        </p:nvSpPr>
        <p:spPr>
          <a:xfrm>
            <a:off x="9201150" y="413385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IBERO-LongHorizon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A962E21-FF99-4758-8FBD-ADEC6266A79F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多步骤复合任务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60B7007-7889-4DCE-92A8-27BE3D4BC997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扩展方式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A38157B-3112-4D88-8C56-85211CC58CF0}"/>
              </a:ext>
            </a:extLst>
          </p:cNvPr>
          <p:cNvSpPr>
            <a:spLocks noGrp="1"/>
          </p:cNvSpPr>
          <p:nvPr/>
        </p:nvSpPr>
        <p:spPr>
          <a:xfrm>
            <a:off x="1905000" y="5334000"/>
            <a:ext cx="8858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社区可以贡献新的工件、工艺和约束，但沿用统一的场景结构、数据格式与验收流程。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A71F957-9327-4BF1-897D-F730262BB22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696112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24FB971-D63B-4F60-A1BA-EC95D0FD6DC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08 / DATA &amp; TOOLCHAIN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AFE566-6279-4BE7-8A79-3BFB377E3D3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从示教采集到自动化校验，贡献可以进入持续集成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11F026F5-E07E-4379-A1C2-E7AFC066EC5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58FA14-6E64-4F8F-BE79-7FB297FF88D8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773B90-6547-48C5-B35B-29E694A5F88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ibero-record负责把专家双臂操作变成标准数据，ibero-cli负责把场景贡献变成可验证的软件包。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8BEC4D28-F231-4F56-9B66-6FF039EA81C2}"/>
              </a:ext>
            </a:extLst>
          </p:cNvPr>
          <p:cNvSpPr>
            <a:spLocks noGrp="1"/>
          </p:cNvSpPr>
          <p:nvPr/>
        </p:nvSpPr>
        <p:spPr>
          <a:xfrm>
            <a:off x="2266950" y="2952750"/>
            <a:ext cx="514350" cy="0"/>
          </a:xfrm>
          <a:prstGeom prst="line">
            <a:avLst/>
          </a:prstGeom>
          <a:noFill/>
          <a:ln w="28575">
            <a:solidFill>
              <a:srgbClr val="2E5D77"/>
            </a:solidFill>
            <a:prstDash val="solid"/>
          </a:ln>
        </p:spPr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9E1F6EB-87E8-47F9-996E-835975C635E6}"/>
              </a:ext>
            </a:extLst>
          </p:cNvPr>
          <p:cNvSpPr>
            <a:spLocks noGrp="1"/>
          </p:cNvSpPr>
          <p:nvPr/>
        </p:nvSpPr>
        <p:spPr>
          <a:xfrm>
            <a:off x="1314450" y="2400300"/>
            <a:ext cx="552450" cy="552450"/>
          </a:xfrm>
          <a:prstGeom prst="ellipse">
            <a:avLst/>
          </a:prstGeom>
          <a:solidFill>
            <a:srgbClr val="47A8FF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148B14-EF62-4046-B32C-4FE3F03FB04F}"/>
              </a:ext>
            </a:extLst>
          </p:cNvPr>
          <p:cNvSpPr>
            <a:spLocks noGrp="1"/>
          </p:cNvSpPr>
          <p:nvPr/>
        </p:nvSpPr>
        <p:spPr>
          <a:xfrm>
            <a:off x="1314450" y="250507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D405C5-C59B-4E27-A7E0-FC119396ABF1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1962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示教采集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72F642-584F-43DD-B9B0-911A1D77CFDB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双 SpaceMouse / VR / 外骨骼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7C75A8A1-4D7D-4A82-AE69-40FF4E96F3D2}"/>
              </a:ext>
            </a:extLst>
          </p:cNvPr>
          <p:cNvSpPr>
            <a:spLocks noGrp="1"/>
          </p:cNvSpPr>
          <p:nvPr/>
        </p:nvSpPr>
        <p:spPr>
          <a:xfrm>
            <a:off x="4438650" y="2952750"/>
            <a:ext cx="514350" cy="0"/>
          </a:xfrm>
          <a:prstGeom prst="line">
            <a:avLst/>
          </a:prstGeom>
          <a:noFill/>
          <a:ln w="28575">
            <a:solidFill>
              <a:srgbClr val="2E5D77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6EA72C6-6C54-4F7F-B8A0-8EEC1F314E42}"/>
              </a:ext>
            </a:extLst>
          </p:cNvPr>
          <p:cNvSpPr>
            <a:spLocks noGrp="1"/>
          </p:cNvSpPr>
          <p:nvPr/>
        </p:nvSpPr>
        <p:spPr>
          <a:xfrm>
            <a:off x="3486150" y="2400300"/>
            <a:ext cx="552450" cy="552450"/>
          </a:xfrm>
          <a:prstGeom prst="ellipse">
            <a:avLst/>
          </a:prstGeom>
          <a:solidFill>
            <a:srgbClr val="63D8D0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2F1677-B0D3-4628-A13D-1C5C0F45EC7C}"/>
              </a:ext>
            </a:extLst>
          </p:cNvPr>
          <p:cNvSpPr>
            <a:spLocks noGrp="1"/>
          </p:cNvSpPr>
          <p:nvPr/>
        </p:nvSpPr>
        <p:spPr>
          <a:xfrm>
            <a:off x="3486150" y="250507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297B46-9323-4EC6-9C9A-27A7F04B0062}"/>
              </a:ext>
            </a:extLst>
          </p:cNvPr>
          <p:cNvSpPr>
            <a:spLocks noGrp="1"/>
          </p:cNvSpPr>
          <p:nvPr/>
        </p:nvSpPr>
        <p:spPr>
          <a:xfrm>
            <a:off x="2781300" y="3257550"/>
            <a:ext cx="1962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多模态数据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D90D01-3B1C-47FF-A31B-FF885DB6446E}"/>
              </a:ext>
            </a:extLst>
          </p:cNvPr>
          <p:cNvSpPr>
            <a:spLocks noGrp="1"/>
          </p:cNvSpPr>
          <p:nvPr/>
        </p:nvSpPr>
        <p:spPr>
          <a:xfrm>
            <a:off x="2857500" y="3648075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RGB-D、手眼、触觉 / 力觉、6D 位姿</a:t>
            </a:r>
          </a:p>
        </p:txBody>
      </p:sp>
      <p:sp>
        <p:nvSpPr>
          <p:cNvPr id="16" name="直线连接符 15">
            <a:extLst>
              <a:ext uri="{FF2B5EF4-FFF2-40B4-BE49-F238E27FC236}">
                <a16:creationId xmlns:a16="http://schemas.microsoft.com/office/drawing/2014/main" id="{292A344A-E3B2-4376-8806-AF8BFA39B3D1}"/>
              </a:ext>
            </a:extLst>
          </p:cNvPr>
          <p:cNvSpPr>
            <a:spLocks noGrp="1"/>
          </p:cNvSpPr>
          <p:nvPr/>
        </p:nvSpPr>
        <p:spPr>
          <a:xfrm>
            <a:off x="6610350" y="2952750"/>
            <a:ext cx="514350" cy="0"/>
          </a:xfrm>
          <a:prstGeom prst="line">
            <a:avLst/>
          </a:prstGeom>
          <a:noFill/>
          <a:ln w="28575">
            <a:solidFill>
              <a:srgbClr val="2E5D77"/>
            </a:solidFill>
            <a:prstDash val="solid"/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85AEC59-72C6-4B9B-833B-88FE39284227}"/>
              </a:ext>
            </a:extLst>
          </p:cNvPr>
          <p:cNvSpPr>
            <a:spLocks noGrp="1"/>
          </p:cNvSpPr>
          <p:nvPr/>
        </p:nvSpPr>
        <p:spPr>
          <a:xfrm>
            <a:off x="5657850" y="2400300"/>
            <a:ext cx="552450" cy="55245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35F810-ED18-4B90-830A-4BD29A02BF52}"/>
              </a:ext>
            </a:extLst>
          </p:cNvPr>
          <p:cNvSpPr>
            <a:spLocks noGrp="1"/>
          </p:cNvSpPr>
          <p:nvPr/>
        </p:nvSpPr>
        <p:spPr>
          <a:xfrm>
            <a:off x="5657850" y="250507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5C0EB1-52C5-4985-9EAB-60A920A1A45E}"/>
              </a:ext>
            </a:extLst>
          </p:cNvPr>
          <p:cNvSpPr>
            <a:spLocks noGrp="1"/>
          </p:cNvSpPr>
          <p:nvPr/>
        </p:nvSpPr>
        <p:spPr>
          <a:xfrm>
            <a:off x="4953000" y="3257550"/>
            <a:ext cx="1962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标准存储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AEFDD6-0F52-400B-A363-EBF8087B1B40}"/>
              </a:ext>
            </a:extLst>
          </p:cNvPr>
          <p:cNvSpPr>
            <a:spLocks noGrp="1"/>
          </p:cNvSpPr>
          <p:nvPr/>
        </p:nvSpPr>
        <p:spPr>
          <a:xfrm>
            <a:off x="5029200" y="3648075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LeRobot / HDF5 / Zarr</a:t>
            </a:r>
          </a:p>
        </p:txBody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ABD53C8D-CB2C-4DE1-9887-80A3E4C36F92}"/>
              </a:ext>
            </a:extLst>
          </p:cNvPr>
          <p:cNvSpPr>
            <a:spLocks noGrp="1"/>
          </p:cNvSpPr>
          <p:nvPr/>
        </p:nvSpPr>
        <p:spPr>
          <a:xfrm>
            <a:off x="8782050" y="2952750"/>
            <a:ext cx="514350" cy="0"/>
          </a:xfrm>
          <a:prstGeom prst="line">
            <a:avLst/>
          </a:prstGeom>
          <a:noFill/>
          <a:ln w="28575">
            <a:solidFill>
              <a:srgbClr val="2E5D77"/>
            </a:solidFill>
            <a:prstDash val="solid"/>
          </a:ln>
        </p:spPr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5D170EB-DAA2-43E7-AFAF-780BF45226AD}"/>
              </a:ext>
            </a:extLst>
          </p:cNvPr>
          <p:cNvSpPr>
            <a:spLocks noGrp="1"/>
          </p:cNvSpPr>
          <p:nvPr/>
        </p:nvSpPr>
        <p:spPr>
          <a:xfrm>
            <a:off x="7829550" y="2400300"/>
            <a:ext cx="552450" cy="552450"/>
          </a:xfrm>
          <a:prstGeom prst="ellipse">
            <a:avLst/>
          </a:prstGeom>
          <a:solidFill>
            <a:srgbClr val="F5FAFD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4EF053A-FFA4-4969-8C63-71E91AC8F6BB}"/>
              </a:ext>
            </a:extLst>
          </p:cNvPr>
          <p:cNvSpPr>
            <a:spLocks noGrp="1"/>
          </p:cNvSpPr>
          <p:nvPr/>
        </p:nvSpPr>
        <p:spPr>
          <a:xfrm>
            <a:off x="7829550" y="250507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A58BA8-D202-4173-9EF7-6DAECE8D3590}"/>
              </a:ext>
            </a:extLst>
          </p:cNvPr>
          <p:cNvSpPr>
            <a:spLocks noGrp="1"/>
          </p:cNvSpPr>
          <p:nvPr/>
        </p:nvSpPr>
        <p:spPr>
          <a:xfrm>
            <a:off x="7124700" y="3257550"/>
            <a:ext cx="1962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场景校验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53483F0-168C-427D-9146-3A95BAD12F5D}"/>
              </a:ext>
            </a:extLst>
          </p:cNvPr>
          <p:cNvSpPr>
            <a:spLocks noGrp="1"/>
          </p:cNvSpPr>
          <p:nvPr/>
        </p:nvSpPr>
        <p:spPr>
          <a:xfrm>
            <a:off x="7200900" y="3648075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网格、公差、力阈值、可达性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F6886E8-34D0-4E75-8EA3-6A7522C245BF}"/>
              </a:ext>
            </a:extLst>
          </p:cNvPr>
          <p:cNvSpPr>
            <a:spLocks noGrp="1"/>
          </p:cNvSpPr>
          <p:nvPr/>
        </p:nvSpPr>
        <p:spPr>
          <a:xfrm>
            <a:off x="10001250" y="2400300"/>
            <a:ext cx="552450" cy="552450"/>
          </a:xfrm>
          <a:prstGeom prst="ellipse">
            <a:avLst/>
          </a:prstGeom>
          <a:solidFill>
            <a:srgbClr val="63D8D0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EED1549-2ECE-4420-8CBE-308F1795D33E}"/>
              </a:ext>
            </a:extLst>
          </p:cNvPr>
          <p:cNvSpPr>
            <a:spLocks noGrp="1"/>
          </p:cNvSpPr>
          <p:nvPr/>
        </p:nvSpPr>
        <p:spPr>
          <a:xfrm>
            <a:off x="10001250" y="2505075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C44507C-1420-41E2-B17E-2D4A614FC2E7}"/>
              </a:ext>
            </a:extLst>
          </p:cNvPr>
          <p:cNvSpPr>
            <a:spLocks noGrp="1"/>
          </p:cNvSpPr>
          <p:nvPr/>
        </p:nvSpPr>
        <p:spPr>
          <a:xfrm>
            <a:off x="9296400" y="3257550"/>
            <a:ext cx="1962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CI 合入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9C30707-E72B-463B-BFCF-B7D010751E42}"/>
              </a:ext>
            </a:extLst>
          </p:cNvPr>
          <p:cNvSpPr>
            <a:spLocks noGrp="1"/>
          </p:cNvSpPr>
          <p:nvPr/>
        </p:nvSpPr>
        <p:spPr>
          <a:xfrm>
            <a:off x="9372600" y="3648075"/>
            <a:ext cx="1809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GitHub PR / 回归测试 / Baseline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9E0F3BC3-4416-49B9-99DA-A23B70ED6628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972800" cy="1047750"/>
          </a:xfrm>
          <a:prstGeom prst="roundRect">
            <a:avLst>
              <a:gd name="adj" fmla="val 10909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5F25806-DEB9-4D0A-B12D-6B3EE514EA90}"/>
              </a:ext>
            </a:extLst>
          </p:cNvPr>
          <p:cNvSpPr>
            <a:spLocks noGrp="1"/>
          </p:cNvSpPr>
          <p:nvPr/>
        </p:nvSpPr>
        <p:spPr>
          <a:xfrm>
            <a:off x="876300" y="4895850"/>
            <a:ext cx="219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一个场景的最小可交付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7044573-D738-4A82-BBD8-C6601F1621E2}"/>
              </a:ext>
            </a:extLst>
          </p:cNvPr>
          <p:cNvSpPr>
            <a:spLocks noGrp="1"/>
          </p:cNvSpPr>
          <p:nvPr/>
        </p:nvSpPr>
        <p:spPr>
          <a:xfrm>
            <a:off x="3429000" y="489585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CAD / USD / URDF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EE4172-DFEC-4CA6-9208-84ED5086338B}"/>
              </a:ext>
            </a:extLst>
          </p:cNvPr>
          <p:cNvSpPr>
            <a:spLocks noGrp="1"/>
          </p:cNvSpPr>
          <p:nvPr/>
        </p:nvSpPr>
        <p:spPr>
          <a:xfrm>
            <a:off x="5334000" y="489585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task_spec.py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C50E977-86AD-4369-A9F1-C6147DA783FE}"/>
              </a:ext>
            </a:extLst>
          </p:cNvPr>
          <p:cNvSpPr>
            <a:spLocks noGrp="1"/>
          </p:cNvSpPr>
          <p:nvPr/>
        </p:nvSpPr>
        <p:spPr>
          <a:xfrm>
            <a:off x="7048500" y="489585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constraints.yaml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268014-0153-4D92-B7D0-DBE8208DD2FB}"/>
              </a:ext>
            </a:extLst>
          </p:cNvPr>
          <p:cNvSpPr>
            <a:spLocks noGrp="1"/>
          </p:cNvSpPr>
          <p:nvPr/>
        </p:nvSpPr>
        <p:spPr>
          <a:xfrm>
            <a:off x="9048750" y="4895850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30–50条专家双臂轨迹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60DD35B-BF0D-4BE8-B91E-1FC132516394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贡献者以同一套文件结构描述工件、任务、约束和示范数据，平台以同一套检查逻辑验收。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A505DB8-8ADF-4673-93EE-2FA2C8FC027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1327254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F8555403-8EF6-48EA-B499-BC8569B7CE5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09 / CONTRIBUTION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B460C0-4C27-4CC7-8774-B08159B7B95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高校与企业如何加入：四步把特色工艺变成共享场景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D35E85F3-A5D7-4BA9-B5DD-00D53104505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16A661-6BC3-49F2-A2B0-925D56ACA9B4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D0FCCE-B4C3-4B40-8829-19E3D5864DD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参与路径围绕真实工业问题展开，贡献者不需要重新搭建物理底座或评测系统。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4AEA92F-991B-47CC-9688-8E540E0AA6C2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400300" cy="2190750"/>
          </a:xfrm>
          <a:prstGeom prst="roundRect">
            <a:avLst>
              <a:gd name="adj" fmla="val 6087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D76A381-E341-48FF-833E-BA09BAF999A0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495300" cy="495300"/>
          </a:xfrm>
          <a:prstGeom prst="ellipse">
            <a:avLst/>
          </a:prstGeom>
          <a:solidFill>
            <a:srgbClr val="47A8FF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8C9EDE-8EE7-4ADC-A81D-43C07350948C}"/>
              </a:ext>
            </a:extLst>
          </p:cNvPr>
          <p:cNvSpPr>
            <a:spLocks noGrp="1"/>
          </p:cNvSpPr>
          <p:nvPr/>
        </p:nvSpPr>
        <p:spPr>
          <a:xfrm>
            <a:off x="819150" y="2730332"/>
            <a:ext cx="495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 dirty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854D1C-38BC-4617-95DB-17DF5C7CD6B8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1952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物理与工件建模</a:t>
            </a:r>
          </a:p>
        </p:txBody>
      </p:sp>
      <p:sp>
        <p:nvSpPr>
          <p:cNvPr id="10" name="直线连接符 9">
            <a:extLst>
              <a:ext uri="{FF2B5EF4-FFF2-40B4-BE49-F238E27FC236}">
                <a16:creationId xmlns:a16="http://schemas.microsoft.com/office/drawing/2014/main" id="{75E2630C-63F8-44FF-A6DF-5EB2DA8EA0EC}"/>
              </a:ext>
            </a:extLst>
          </p:cNvPr>
          <p:cNvSpPr>
            <a:spLocks noGrp="1"/>
          </p:cNvSpPr>
          <p:nvPr/>
        </p:nvSpPr>
        <p:spPr>
          <a:xfrm>
            <a:off x="819150" y="3752850"/>
            <a:ext cx="1952625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A9D145-FBFD-4B01-8EC1-1991D9C13B7F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1952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CAD → USD / URDF</a:t>
            </a:r>
          </a:p>
          <a:p>
            <a:pPr algn="l">
              <a:lnSpc>
                <a:spcPct val="11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公差、摩擦、磨损、形变</a:t>
            </a: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7D181957-75D0-43EE-A070-ECF56FCC52C3}"/>
              </a:ext>
            </a:extLst>
          </p:cNvPr>
          <p:cNvSpPr>
            <a:spLocks noGrp="1"/>
          </p:cNvSpPr>
          <p:nvPr/>
        </p:nvSpPr>
        <p:spPr>
          <a:xfrm>
            <a:off x="3028950" y="3486150"/>
            <a:ext cx="304800" cy="0"/>
          </a:xfrm>
          <a:prstGeom prst="line">
            <a:avLst/>
          </a:prstGeom>
          <a:noFill/>
          <a:ln w="28575">
            <a:solidFill>
              <a:srgbClr val="2E5D77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9B66315-BECE-487A-9C3A-52AA19908001}"/>
              </a:ext>
            </a:extLst>
          </p:cNvPr>
          <p:cNvSpPr>
            <a:spLocks noGrp="1"/>
          </p:cNvSpPr>
          <p:nvPr/>
        </p:nvSpPr>
        <p:spPr>
          <a:xfrm>
            <a:off x="3333750" y="2381250"/>
            <a:ext cx="2400300" cy="2190750"/>
          </a:xfrm>
          <a:prstGeom prst="roundRect">
            <a:avLst>
              <a:gd name="adj" fmla="val 6087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438D905-0DA9-4697-A2A7-E41ABCB06D18}"/>
              </a:ext>
            </a:extLst>
          </p:cNvPr>
          <p:cNvSpPr>
            <a:spLocks noGrp="1"/>
          </p:cNvSpPr>
          <p:nvPr/>
        </p:nvSpPr>
        <p:spPr>
          <a:xfrm>
            <a:off x="3543300" y="2590800"/>
            <a:ext cx="495300" cy="49530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9E7639-0B41-4231-84AD-E98D0F74A987}"/>
              </a:ext>
            </a:extLst>
          </p:cNvPr>
          <p:cNvSpPr>
            <a:spLocks noGrp="1"/>
          </p:cNvSpPr>
          <p:nvPr/>
        </p:nvSpPr>
        <p:spPr>
          <a:xfrm>
            <a:off x="3543300" y="2730332"/>
            <a:ext cx="495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2FBEED-182E-4712-A95B-1CC3A536A015}"/>
              </a:ext>
            </a:extLst>
          </p:cNvPr>
          <p:cNvSpPr>
            <a:spLocks noGrp="1"/>
          </p:cNvSpPr>
          <p:nvPr/>
        </p:nvSpPr>
        <p:spPr>
          <a:xfrm>
            <a:off x="3543300" y="3143250"/>
            <a:ext cx="1952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双臂协同逻辑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ECEC3264-4366-4682-AE47-3E0C33E60D1F}"/>
              </a:ext>
            </a:extLst>
          </p:cNvPr>
          <p:cNvSpPr>
            <a:spLocks noGrp="1"/>
          </p:cNvSpPr>
          <p:nvPr/>
        </p:nvSpPr>
        <p:spPr>
          <a:xfrm>
            <a:off x="3543300" y="3752850"/>
            <a:ext cx="1952625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C7B0C7-CF79-4965-97F2-CA7F638A5BA3}"/>
              </a:ext>
            </a:extLst>
          </p:cNvPr>
          <p:cNvSpPr>
            <a:spLocks noGrp="1"/>
          </p:cNvSpPr>
          <p:nvPr/>
        </p:nvSpPr>
        <p:spPr>
          <a:xfrm>
            <a:off x="3543300" y="3962400"/>
            <a:ext cx="1952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双臂分工</a:t>
            </a:r>
          </a:p>
          <a:p>
            <a:pPr algn="l">
              <a:lnSpc>
                <a:spcPct val="11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无损接触力上限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471A9880-522C-4F1D-9A4D-64CEBB854794}"/>
              </a:ext>
            </a:extLst>
          </p:cNvPr>
          <p:cNvSpPr>
            <a:spLocks noGrp="1"/>
          </p:cNvSpPr>
          <p:nvPr/>
        </p:nvSpPr>
        <p:spPr>
          <a:xfrm>
            <a:off x="5753100" y="3486150"/>
            <a:ext cx="304800" cy="0"/>
          </a:xfrm>
          <a:prstGeom prst="line">
            <a:avLst/>
          </a:prstGeom>
          <a:noFill/>
          <a:ln w="28575">
            <a:solidFill>
              <a:srgbClr val="2E5D77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CE0AE8D-9BFB-4AF2-9DB3-F01D87220182}"/>
              </a:ext>
            </a:extLst>
          </p:cNvPr>
          <p:cNvSpPr>
            <a:spLocks noGrp="1"/>
          </p:cNvSpPr>
          <p:nvPr/>
        </p:nvSpPr>
        <p:spPr>
          <a:xfrm>
            <a:off x="6057900" y="2381250"/>
            <a:ext cx="2400300" cy="2190750"/>
          </a:xfrm>
          <a:prstGeom prst="roundRect">
            <a:avLst>
              <a:gd name="adj" fmla="val 6087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7DE46D4-1CEA-485E-8D7F-506DA67F3BBB}"/>
              </a:ext>
            </a:extLst>
          </p:cNvPr>
          <p:cNvSpPr>
            <a:spLocks noGrp="1"/>
          </p:cNvSpPr>
          <p:nvPr/>
        </p:nvSpPr>
        <p:spPr>
          <a:xfrm>
            <a:off x="6267450" y="2590800"/>
            <a:ext cx="495300" cy="495300"/>
          </a:xfrm>
          <a:prstGeom prst="ellipse">
            <a:avLst/>
          </a:prstGeom>
          <a:solidFill>
            <a:srgbClr val="63D8D0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B32BCAB-1AC7-4850-A5CC-2684CD4F201F}"/>
              </a:ext>
            </a:extLst>
          </p:cNvPr>
          <p:cNvSpPr>
            <a:spLocks noGrp="1"/>
          </p:cNvSpPr>
          <p:nvPr/>
        </p:nvSpPr>
        <p:spPr>
          <a:xfrm>
            <a:off x="6267450" y="2730332"/>
            <a:ext cx="495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BB6334-467A-48B1-9529-88A1100CE75F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1952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示教数据采集</a:t>
            </a:r>
          </a:p>
        </p:txBody>
      </p:sp>
      <p:sp>
        <p:nvSpPr>
          <p:cNvPr id="24" name="直线连接符 23">
            <a:extLst>
              <a:ext uri="{FF2B5EF4-FFF2-40B4-BE49-F238E27FC236}">
                <a16:creationId xmlns:a16="http://schemas.microsoft.com/office/drawing/2014/main" id="{BD745CFB-2680-4992-802A-63B351704BF8}"/>
              </a:ext>
            </a:extLst>
          </p:cNvPr>
          <p:cNvSpPr>
            <a:spLocks noGrp="1"/>
          </p:cNvSpPr>
          <p:nvPr/>
        </p:nvSpPr>
        <p:spPr>
          <a:xfrm>
            <a:off x="6267450" y="3752850"/>
            <a:ext cx="1952625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15DFA6-F459-461F-8836-02E3AD24969C}"/>
              </a:ext>
            </a:extLst>
          </p:cNvPr>
          <p:cNvSpPr>
            <a:spLocks noGrp="1"/>
          </p:cNvSpPr>
          <p:nvPr/>
        </p:nvSpPr>
        <p:spPr>
          <a:xfrm>
            <a:off x="6267450" y="3962400"/>
            <a:ext cx="1952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30–50条高质量轨迹</a:t>
            </a:r>
          </a:p>
          <a:p>
            <a:pPr algn="l">
              <a:lnSpc>
                <a:spcPct val="11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覆盖初始位姿扰动</a:t>
            </a:r>
          </a:p>
        </p:txBody>
      </p:sp>
      <p:sp>
        <p:nvSpPr>
          <p:cNvPr id="26" name="直线连接符 25">
            <a:extLst>
              <a:ext uri="{FF2B5EF4-FFF2-40B4-BE49-F238E27FC236}">
                <a16:creationId xmlns:a16="http://schemas.microsoft.com/office/drawing/2014/main" id="{199A594E-2B83-4C9B-938F-B72940F7C3C7}"/>
              </a:ext>
            </a:extLst>
          </p:cNvPr>
          <p:cNvSpPr>
            <a:spLocks noGrp="1"/>
          </p:cNvSpPr>
          <p:nvPr/>
        </p:nvSpPr>
        <p:spPr>
          <a:xfrm>
            <a:off x="8477250" y="3486150"/>
            <a:ext cx="304800" cy="0"/>
          </a:xfrm>
          <a:prstGeom prst="line">
            <a:avLst/>
          </a:prstGeom>
          <a:noFill/>
          <a:ln w="28575">
            <a:solidFill>
              <a:srgbClr val="2E5D77"/>
            </a:solidFill>
            <a:prstDash val="solid"/>
          </a:ln>
        </p:spPr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3711400-62B3-45CE-BFA6-16A6F6D672F4}"/>
              </a:ext>
            </a:extLst>
          </p:cNvPr>
          <p:cNvSpPr>
            <a:spLocks noGrp="1"/>
          </p:cNvSpPr>
          <p:nvPr/>
        </p:nvSpPr>
        <p:spPr>
          <a:xfrm>
            <a:off x="8782050" y="2381250"/>
            <a:ext cx="2400300" cy="2190750"/>
          </a:xfrm>
          <a:prstGeom prst="roundRect">
            <a:avLst>
              <a:gd name="adj" fmla="val 6087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BD96F10-3AA3-46E8-8461-21D89D9BEEB8}"/>
              </a:ext>
            </a:extLst>
          </p:cNvPr>
          <p:cNvSpPr>
            <a:spLocks noGrp="1"/>
          </p:cNvSpPr>
          <p:nvPr/>
        </p:nvSpPr>
        <p:spPr>
          <a:xfrm>
            <a:off x="8991600" y="2590800"/>
            <a:ext cx="495300" cy="495300"/>
          </a:xfrm>
          <a:prstGeom prst="ellipse">
            <a:avLst/>
          </a:prstGeom>
          <a:solidFill>
            <a:srgbClr val="F5FAFD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BD944C-41EA-4CFE-B9C0-CAB503C29B88}"/>
              </a:ext>
            </a:extLst>
          </p:cNvPr>
          <p:cNvSpPr>
            <a:spLocks noGrp="1"/>
          </p:cNvSpPr>
          <p:nvPr/>
        </p:nvSpPr>
        <p:spPr>
          <a:xfrm>
            <a:off x="8991600" y="2730332"/>
            <a:ext cx="495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71B2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53FB96-485B-4E0F-86EB-4C41A7991837}"/>
              </a:ext>
            </a:extLst>
          </p:cNvPr>
          <p:cNvSpPr>
            <a:spLocks noGrp="1"/>
          </p:cNvSpPr>
          <p:nvPr/>
        </p:nvSpPr>
        <p:spPr>
          <a:xfrm>
            <a:off x="8991600" y="3143250"/>
            <a:ext cx="1952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自动化验证与提交</a:t>
            </a:r>
          </a:p>
        </p:txBody>
      </p:sp>
      <p:sp>
        <p:nvSpPr>
          <p:cNvPr id="31" name="直线连接符 30">
            <a:extLst>
              <a:ext uri="{FF2B5EF4-FFF2-40B4-BE49-F238E27FC236}">
                <a16:creationId xmlns:a16="http://schemas.microsoft.com/office/drawing/2014/main" id="{CAF8F653-C2B5-48F8-8D9E-D38446D9A5BA}"/>
              </a:ext>
            </a:extLst>
          </p:cNvPr>
          <p:cNvSpPr>
            <a:spLocks noGrp="1"/>
          </p:cNvSpPr>
          <p:nvPr/>
        </p:nvSpPr>
        <p:spPr>
          <a:xfrm>
            <a:off x="8991600" y="3752850"/>
            <a:ext cx="1952625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899965-EACD-487E-A6F4-1AFB8F6BC5A9}"/>
              </a:ext>
            </a:extLst>
          </p:cNvPr>
          <p:cNvSpPr>
            <a:spLocks noGrp="1"/>
          </p:cNvSpPr>
          <p:nvPr/>
        </p:nvSpPr>
        <p:spPr>
          <a:xfrm>
            <a:off x="8991600" y="3962400"/>
            <a:ext cx="1952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ibero check</a:t>
            </a:r>
          </a:p>
          <a:p>
            <a:pPr algn="l">
              <a:lnSpc>
                <a:spcPct val="11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GitHub Pull Request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1DA361-A663-4B1F-A5DE-E08A3F28D9B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对企业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3DFBED0-C11F-451B-BC29-59EB98DEDEF3}"/>
              </a:ext>
            </a:extLst>
          </p:cNvPr>
          <p:cNvSpPr>
            <a:spLocks noGrp="1"/>
          </p:cNvSpPr>
          <p:nvPr/>
        </p:nvSpPr>
        <p:spPr>
          <a:xfrm>
            <a:off x="1714500" y="52387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可先从脱敏后的典型零件、工艺约束或数字孪生场景开始；对高校，可先从实验室擅长的细分任务和Baseline比较开始。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04BB25-2BE7-4BAA-AFDB-B552A8849A9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1249091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6B53DC2-EDE2-4F11-8855-98FA10BE30D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10 / METRICS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896520-A3F0-4C96-A625-6EBF2D7D05F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从成功率扩展到工业真正关心的五类指标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5A7CA631-BAA9-47A7-BD22-22C69415242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DC1D32-DB16-4524-B7DB-217373DD1485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675AE1-3832-43F8-A4B2-46A9B5AE391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工业双臂系统必须同时回答“完成了吗、损伤了吗、安全了吗、换工件还能工作吗”。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152650"/>
          <a:ext cx="10972800" cy="34290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FAF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评测维度</a:t>
                      </a:r>
                    </a:p>
                  </a:txBody>
                  <a:tcPr anchor="ctr">
                    <a:solidFill>
                      <a:srgbClr val="174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FAF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指标关注什么</a:t>
                      </a:r>
                    </a:p>
                  </a:txBody>
                  <a:tcPr anchor="ctr">
                    <a:solidFill>
                      <a:srgbClr val="174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FAF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工业 / 科研价值</a:t>
                      </a:r>
                    </a:p>
                  </a:txBody>
                  <a:tcPr anchor="ctr">
                    <a:solidFill>
                      <a:srgbClr val="17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3D8D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任务闭环完成率</a:t>
                      </a:r>
                    </a:p>
                  </a:txBody>
                  <a:tcPr anchor="ctr">
                    <a:solidFill>
                      <a:srgbClr val="0C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完整工艺与终止状态</a:t>
                      </a:r>
                    </a:p>
                  </a:txBody>
                  <a:tcPr anchor="ctr">
                    <a:solidFill>
                      <a:srgbClr val="0C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衡量端到端作业能力</a:t>
                      </a:r>
                    </a:p>
                  </a:txBody>
                  <a:tcPr anchor="ctr">
                    <a:solidFill>
                      <a:srgbClr val="0C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3D8D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工件无损完好率</a:t>
                      </a:r>
                    </a:p>
                  </a:txBody>
                  <a:tcPr anchor="ctr">
                    <a:solidFill>
                      <a:srgbClr val="10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高价值零件是否破损或形变</a:t>
                      </a:r>
                    </a:p>
                  </a:txBody>
                  <a:tcPr anchor="ctr">
                    <a:solidFill>
                      <a:srgbClr val="10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保障装配质量与梯次利用</a:t>
                      </a:r>
                    </a:p>
                  </a:txBody>
                  <a:tcPr anchor="ctr">
                    <a:solidFill>
                      <a:srgbClr val="10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3D8D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双臂协调内力超限率</a:t>
                      </a:r>
                    </a:p>
                  </a:txBody>
                  <a:tcPr anchor="ctr">
                    <a:solidFill>
                      <a:srgbClr val="0C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合拉力 / 挤压力是否超阈值</a:t>
                      </a:r>
                    </a:p>
                  </a:txBody>
                  <a:tcPr anchor="ctr">
                    <a:solidFill>
                      <a:srgbClr val="0C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避免拉断或挤裂工件</a:t>
                      </a:r>
                    </a:p>
                  </a:txBody>
                  <a:tcPr anchor="ctr">
                    <a:solidFill>
                      <a:srgbClr val="0C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3D8D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双臂防自碰撞率</a:t>
                      </a:r>
                    </a:p>
                  </a:txBody>
                  <a:tcPr anchor="ctr">
                    <a:solidFill>
                      <a:srgbClr val="10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公共工作空间内的干涉风险</a:t>
                      </a:r>
                    </a:p>
                  </a:txBody>
                  <a:tcPr anchor="ctr">
                    <a:solidFill>
                      <a:srgbClr val="103A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保护机器人本体与工具</a:t>
                      </a:r>
                    </a:p>
                  </a:txBody>
                  <a:tcPr anchor="ctr">
                    <a:solidFill>
                      <a:srgbClr val="10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3D8D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少样本泛化力</a:t>
                      </a:r>
                    </a:p>
                  </a:txBody>
                  <a:tcPr anchor="ctr">
                    <a:solidFill>
                      <a:srgbClr val="0C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位姿扰动、磨损、形变下的迁移</a:t>
                      </a:r>
                    </a:p>
                  </a:txBody>
                  <a:tcPr anchor="ctr">
                    <a:solidFill>
                      <a:srgbClr val="0C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7E8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衡量非结构化工况鲁棒性</a:t>
                      </a:r>
                    </a:p>
                  </a:txBody>
                  <a:tcPr anchor="ctr">
                    <a:solidFill>
                      <a:srgbClr val="0C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0E60048-3E33-47F0-B713-69A88156786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IBERO-Metrics让不同算法、场景和组织可以在同一套工业语言里比较。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E720F2-5874-4CDB-A6E1-E0C96F0A4B5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1727168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ED958429-437F-4197-8366-1DA560E14B3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11 / FIRST RELEASE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14D602-FAF0-48EF-A720-F2B2617BFC2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首期种子场景让平台从第一天就可运行、可比较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46832F7-5516-4A54-AAD7-5547B169A3B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099C46-EC8B-441D-A43A-E3D0ADF1C3C0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F51843-A41E-4C99-B55C-20A202DC2A2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首期交付覆盖基础泛化、精密装配、逆向拆解和绿色再制造四个方向。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FE26B41-B49D-42AC-95D0-B8C13AFD2950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2400300" cy="1619250"/>
          </a:xfrm>
          <a:prstGeom prst="roundRect">
            <a:avLst>
              <a:gd name="adj" fmla="val 8235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7B0483-CD12-4FC9-BF84-B6EB04857107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1981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IBERO-Spatial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E98EDD-057D-4A4D-9558-072595F0B8F0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1981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双臂托举与空间布局迁移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313E531-9771-462E-9347-68A7A798638E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174A66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05DF86-D92B-42B7-8FD5-EA553DB94F9D}"/>
              </a:ext>
            </a:extLst>
          </p:cNvPr>
          <p:cNvSpPr>
            <a:spLocks noGrp="1"/>
          </p:cNvSpPr>
          <p:nvPr/>
        </p:nvSpPr>
        <p:spPr>
          <a:xfrm>
            <a:off x="914400" y="36671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基础泛化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955C693-9EBE-4360-AE73-35561B9AF508}"/>
              </a:ext>
            </a:extLst>
          </p:cNvPr>
          <p:cNvSpPr>
            <a:spLocks noGrp="1"/>
          </p:cNvSpPr>
          <p:nvPr/>
        </p:nvSpPr>
        <p:spPr>
          <a:xfrm>
            <a:off x="3333750" y="2324100"/>
            <a:ext cx="2400300" cy="1619250"/>
          </a:xfrm>
          <a:prstGeom prst="roundRect">
            <a:avLst>
              <a:gd name="adj" fmla="val 8235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2AF030-2918-41CE-A80E-2D9BF752E933}"/>
              </a:ext>
            </a:extLst>
          </p:cNvPr>
          <p:cNvSpPr>
            <a:spLocks noGrp="1"/>
          </p:cNvSpPr>
          <p:nvPr/>
        </p:nvSpPr>
        <p:spPr>
          <a:xfrm>
            <a:off x="3543300" y="2571750"/>
            <a:ext cx="1981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IBERO-Assembly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938A70-E67F-45A4-AC9E-6F2EF1B70ADD}"/>
              </a:ext>
            </a:extLst>
          </p:cNvPr>
          <p:cNvSpPr>
            <a:spLocks noGrp="1"/>
          </p:cNvSpPr>
          <p:nvPr/>
        </p:nvSpPr>
        <p:spPr>
          <a:xfrm>
            <a:off x="3543300" y="3048000"/>
            <a:ext cx="1981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多销轴精密压装，公差0.5 mm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67D7581-0D73-468A-9EA4-625D3E62C13D}"/>
              </a:ext>
            </a:extLst>
          </p:cNvPr>
          <p:cNvSpPr>
            <a:spLocks noGrp="1"/>
          </p:cNvSpPr>
          <p:nvPr/>
        </p:nvSpPr>
        <p:spPr>
          <a:xfrm>
            <a:off x="3543300" y="361950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174A66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FCB87C-666C-4916-8C1A-A35C278B887C}"/>
              </a:ext>
            </a:extLst>
          </p:cNvPr>
          <p:cNvSpPr>
            <a:spLocks noGrp="1"/>
          </p:cNvSpPr>
          <p:nvPr/>
        </p:nvSpPr>
        <p:spPr>
          <a:xfrm>
            <a:off x="3638550" y="36671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精密装配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A4C69D7-4BD9-451F-BB6D-4FC0532D3AE7}"/>
              </a:ext>
            </a:extLst>
          </p:cNvPr>
          <p:cNvSpPr>
            <a:spLocks noGrp="1"/>
          </p:cNvSpPr>
          <p:nvPr/>
        </p:nvSpPr>
        <p:spPr>
          <a:xfrm>
            <a:off x="6057900" y="2324100"/>
            <a:ext cx="2400300" cy="1619250"/>
          </a:xfrm>
          <a:prstGeom prst="roundRect">
            <a:avLst>
              <a:gd name="adj" fmla="val 8235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F8DA82-14F0-4445-BDA4-24AFF576EE18}"/>
              </a:ext>
            </a:extLst>
          </p:cNvPr>
          <p:cNvSpPr>
            <a:spLocks noGrp="1"/>
          </p:cNvSpPr>
          <p:nvPr/>
        </p:nvSpPr>
        <p:spPr>
          <a:xfrm>
            <a:off x="6267450" y="2571750"/>
            <a:ext cx="1981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IBERO-Disassembly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2DCACC-ECA7-482F-9FFA-704342C4B4FF}"/>
              </a:ext>
            </a:extLst>
          </p:cNvPr>
          <p:cNvSpPr>
            <a:spLocks noGrp="1"/>
          </p:cNvSpPr>
          <p:nvPr/>
        </p:nvSpPr>
        <p:spPr>
          <a:xfrm>
            <a:off x="6267450" y="3048000"/>
            <a:ext cx="1981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多螺栓定位、旋卸与无损分离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54D7122F-B44F-47BC-A0D2-513C6847AD83}"/>
              </a:ext>
            </a:extLst>
          </p:cNvPr>
          <p:cNvSpPr>
            <a:spLocks noGrp="1"/>
          </p:cNvSpPr>
          <p:nvPr/>
        </p:nvSpPr>
        <p:spPr>
          <a:xfrm>
            <a:off x="6267450" y="361950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174A66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9E4E87-B362-4572-82BB-770362EAC0FF}"/>
              </a:ext>
            </a:extLst>
          </p:cNvPr>
          <p:cNvSpPr>
            <a:spLocks noGrp="1"/>
          </p:cNvSpPr>
          <p:nvPr/>
        </p:nvSpPr>
        <p:spPr>
          <a:xfrm>
            <a:off x="6362700" y="36671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逆向拆解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7AF2808-1C01-4C64-B4BD-9936D286DBBC}"/>
              </a:ext>
            </a:extLst>
          </p:cNvPr>
          <p:cNvSpPr>
            <a:spLocks noGrp="1"/>
          </p:cNvSpPr>
          <p:nvPr/>
        </p:nvSpPr>
        <p:spPr>
          <a:xfrm>
            <a:off x="8782050" y="2324100"/>
            <a:ext cx="2400300" cy="1619250"/>
          </a:xfrm>
          <a:prstGeom prst="roundRect">
            <a:avLst>
              <a:gd name="adj" fmla="val 8235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B21958-603B-4DDA-8F8D-79429934625F}"/>
              </a:ext>
            </a:extLst>
          </p:cNvPr>
          <p:cNvSpPr>
            <a:spLocks noGrp="1"/>
          </p:cNvSpPr>
          <p:nvPr/>
        </p:nvSpPr>
        <p:spPr>
          <a:xfrm>
            <a:off x="8991600" y="2571750"/>
            <a:ext cx="1981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IBERO-Reman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478749-595D-498D-8A3B-46EBEAF43C54}"/>
              </a:ext>
            </a:extLst>
          </p:cNvPr>
          <p:cNvSpPr>
            <a:spLocks noGrp="1"/>
          </p:cNvSpPr>
          <p:nvPr/>
        </p:nvSpPr>
        <p:spPr>
          <a:xfrm>
            <a:off x="8991600" y="3048000"/>
            <a:ext cx="1981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卡扣撬开与高价值芯片模组回收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5320BB2-6914-4D58-A9F6-5B993A28B0F9}"/>
              </a:ext>
            </a:extLst>
          </p:cNvPr>
          <p:cNvSpPr>
            <a:spLocks noGrp="1"/>
          </p:cNvSpPr>
          <p:nvPr/>
        </p:nvSpPr>
        <p:spPr>
          <a:xfrm>
            <a:off x="8991600" y="361950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174A66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D15192-AB09-449C-B399-E9FA37ACA421}"/>
              </a:ext>
            </a:extLst>
          </p:cNvPr>
          <p:cNvSpPr>
            <a:spLocks noGrp="1"/>
          </p:cNvSpPr>
          <p:nvPr/>
        </p:nvSpPr>
        <p:spPr>
          <a:xfrm>
            <a:off x="9086850" y="3667125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绿色再制造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377CEF1-03DB-4960-A97F-65E03D445928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1104900"/>
          </a:xfrm>
          <a:prstGeom prst="roundRect">
            <a:avLst>
              <a:gd name="adj" fmla="val 10345"/>
            </a:avLst>
          </a:prstGeom>
          <a:solidFill>
            <a:srgbClr val="174A66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F73ED4-465A-43DD-8E7B-A813F8707F13}"/>
              </a:ext>
            </a:extLst>
          </p:cNvPr>
          <p:cNvSpPr>
            <a:spLocks noGrp="1"/>
          </p:cNvSpPr>
          <p:nvPr/>
        </p:nvSpPr>
        <p:spPr>
          <a:xfrm>
            <a:off x="876300" y="47148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Baseline 模型库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13AE8E8-C4DE-418B-B13C-E84A1172F9AB}"/>
              </a:ext>
            </a:extLst>
          </p:cNvPr>
          <p:cNvSpPr>
            <a:spLocks noGrp="1"/>
          </p:cNvSpPr>
          <p:nvPr/>
        </p:nvSpPr>
        <p:spPr>
          <a:xfrm>
            <a:off x="3333750" y="4667250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0C2A40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AF99D4-D030-4C69-892D-2F5415A3095B}"/>
              </a:ext>
            </a:extLst>
          </p:cNvPr>
          <p:cNvSpPr>
            <a:spLocks noGrp="1"/>
          </p:cNvSpPr>
          <p:nvPr/>
        </p:nvSpPr>
        <p:spPr>
          <a:xfrm>
            <a:off x="3429000" y="4714875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ACT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3B9CA0E-9519-41D0-A4E2-A637E16F431F}"/>
              </a:ext>
            </a:extLst>
          </p:cNvPr>
          <p:cNvSpPr>
            <a:spLocks noGrp="1"/>
          </p:cNvSpPr>
          <p:nvPr/>
        </p:nvSpPr>
        <p:spPr>
          <a:xfrm>
            <a:off x="4400550" y="4667250"/>
            <a:ext cx="1714500" cy="285750"/>
          </a:xfrm>
          <a:prstGeom prst="roundRect">
            <a:avLst>
              <a:gd name="adj" fmla="val 50000"/>
            </a:avLst>
          </a:prstGeom>
          <a:solidFill>
            <a:srgbClr val="0C2A40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B4085ED-6ADF-4BB3-950C-B73791BBE75C}"/>
              </a:ext>
            </a:extLst>
          </p:cNvPr>
          <p:cNvSpPr>
            <a:spLocks noGrp="1"/>
          </p:cNvSpPr>
          <p:nvPr/>
        </p:nvSpPr>
        <p:spPr>
          <a:xfrm>
            <a:off x="4495800" y="4714875"/>
            <a:ext cx="1524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Diffusion Policy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B56F8EDA-D9B7-4CFD-AD31-34F420FA7484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0C2A40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2EF2D9-6D2D-4E02-8CE2-D62C0B1868E1}"/>
              </a:ext>
            </a:extLst>
          </p:cNvPr>
          <p:cNvSpPr>
            <a:spLocks noGrp="1"/>
          </p:cNvSpPr>
          <p:nvPr/>
        </p:nvSpPr>
        <p:spPr>
          <a:xfrm>
            <a:off x="6419850" y="47148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OpenVLA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9F49FE9F-C62F-47AC-A444-892C5F0DCF95}"/>
              </a:ext>
            </a:extLst>
          </p:cNvPr>
          <p:cNvSpPr>
            <a:spLocks noGrp="1"/>
          </p:cNvSpPr>
          <p:nvPr/>
        </p:nvSpPr>
        <p:spPr>
          <a:xfrm>
            <a:off x="7677150" y="4667250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0C2A40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5D13151-303F-4295-AE01-5A5E798B7425}"/>
              </a:ext>
            </a:extLst>
          </p:cNvPr>
          <p:cNvSpPr>
            <a:spLocks noGrp="1"/>
          </p:cNvSpPr>
          <p:nvPr/>
        </p:nvSpPr>
        <p:spPr>
          <a:xfrm>
            <a:off x="7772400" y="4714875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π₀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85D3271-B28F-40E3-95A5-9ECFF776F44C}"/>
              </a:ext>
            </a:extLst>
          </p:cNvPr>
          <p:cNvSpPr>
            <a:spLocks noGrp="1"/>
          </p:cNvSpPr>
          <p:nvPr/>
        </p:nvSpPr>
        <p:spPr>
          <a:xfrm>
            <a:off x="3333750" y="5143500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同一场景、同一指标、同一数据接口，支持算法团队进行公平比较。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EE80795-A99E-4178-BC7E-F860FFACF8F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1389581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C82464EA-703E-4282-BC71-BCF31B3D1B6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12 / ROADMAP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1920EF-8986-4AF6-97E7-728975AECBF5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12个月路线图：从底座可用，到社区共建，再到开源赛事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CE59652A-5184-4A3D-96A3-35292F3D0E3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4FB84C-EF99-4D39-AB47-CC5F7AA15CBB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5556F2-7E38-4719-AEFF-C8BBCE00F8C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路线图把平台建设拆成三个递进阶段，每阶段都有可被社区使用或贡献的结果。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20887A3-55E1-4775-8F29-B309ACBB28B8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3276600" cy="2762250"/>
          </a:xfrm>
          <a:prstGeom prst="roundRect">
            <a:avLst>
              <a:gd name="adj" fmla="val 4828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6BCCF52-1DD5-485A-9FE4-C1EA0FE60C2C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3276600" cy="95250"/>
          </a:xfrm>
          <a:prstGeom prst="roundRect">
            <a:avLst>
              <a:gd name="adj" fmla="val 50000"/>
            </a:avLst>
          </a:prstGeom>
          <a:solidFill>
            <a:srgbClr val="47A8FF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D62A1A-2C45-44EF-A230-8DC5FE36FAEB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1–3个月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BAD2F6-EDAD-49EB-B93F-CE59381B6141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双臂底座与种子场景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FE32099-848C-4E92-81EB-81312CE0C679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76200" cy="76200"/>
          </a:xfrm>
          <a:prstGeom prst="ellipse">
            <a:avLst/>
          </a:prstGeom>
          <a:solidFill>
            <a:srgbClr val="47A8FF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0AB11F-D9A6-438A-B40B-DC98353EB52D}"/>
              </a:ext>
            </a:extLst>
          </p:cNvPr>
          <p:cNvSpPr>
            <a:spLocks noGrp="1"/>
          </p:cNvSpPr>
          <p:nvPr/>
        </p:nvSpPr>
        <p:spPr>
          <a:xfrm>
            <a:off x="1085850" y="3905250"/>
            <a:ext cx="2457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IBERO-Core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9D56DB3-E101-45AC-A271-EC16A369BBBF}"/>
              </a:ext>
            </a:extLst>
          </p:cNvPr>
          <p:cNvSpPr>
            <a:spLocks noGrp="1"/>
          </p:cNvSpPr>
          <p:nvPr/>
        </p:nvSpPr>
        <p:spPr>
          <a:xfrm>
            <a:off x="876300" y="4333875"/>
            <a:ext cx="76200" cy="76200"/>
          </a:xfrm>
          <a:prstGeom prst="ellipse">
            <a:avLst/>
          </a:prstGeom>
          <a:solidFill>
            <a:srgbClr val="47A8FF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CB370E-D973-4770-89C1-7D1ABC4D6D0E}"/>
              </a:ext>
            </a:extLst>
          </p:cNvPr>
          <p:cNvSpPr>
            <a:spLocks noGrp="1"/>
          </p:cNvSpPr>
          <p:nvPr/>
        </p:nvSpPr>
        <p:spPr>
          <a:xfrm>
            <a:off x="1085850" y="4257675"/>
            <a:ext cx="2457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ibero-record 与数据标准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BE8D8BF-6CA1-46F4-944A-B15C458D9433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76200" cy="76200"/>
          </a:xfrm>
          <a:prstGeom prst="ellipse">
            <a:avLst/>
          </a:prstGeom>
          <a:solidFill>
            <a:srgbClr val="47A8FF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B4F2D8-0156-410C-9219-8142E69581AC}"/>
              </a:ext>
            </a:extLst>
          </p:cNvPr>
          <p:cNvSpPr>
            <a:spLocks noGrp="1"/>
          </p:cNvSpPr>
          <p:nvPr/>
        </p:nvSpPr>
        <p:spPr>
          <a:xfrm>
            <a:off x="1085850" y="4610100"/>
            <a:ext cx="2457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4个种子场景 + Baseline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F6790E8-196B-437B-9F2A-7A35710BC0DC}"/>
              </a:ext>
            </a:extLst>
          </p:cNvPr>
          <p:cNvSpPr>
            <a:spLocks noGrp="1"/>
          </p:cNvSpPr>
          <p:nvPr/>
        </p:nvSpPr>
        <p:spPr>
          <a:xfrm>
            <a:off x="4267200" y="2333625"/>
            <a:ext cx="3276600" cy="2762250"/>
          </a:xfrm>
          <a:prstGeom prst="roundRect">
            <a:avLst>
              <a:gd name="adj" fmla="val 4828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3052786-F1B4-428C-B3AF-28E0AEE6BAC6}"/>
              </a:ext>
            </a:extLst>
          </p:cNvPr>
          <p:cNvSpPr>
            <a:spLocks noGrp="1"/>
          </p:cNvSpPr>
          <p:nvPr/>
        </p:nvSpPr>
        <p:spPr>
          <a:xfrm>
            <a:off x="4267200" y="2333625"/>
            <a:ext cx="327660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0285FD-5F4E-4BCC-8845-D047D5F3CA62}"/>
              </a:ext>
            </a:extLst>
          </p:cNvPr>
          <p:cNvSpPr>
            <a:spLocks noGrp="1"/>
          </p:cNvSpPr>
          <p:nvPr/>
        </p:nvSpPr>
        <p:spPr>
          <a:xfrm>
            <a:off x="4514850" y="2647950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4–6个月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BC2B98-A7B1-4BD6-98A1-D24D542E4C95}"/>
              </a:ext>
            </a:extLst>
          </p:cNvPr>
          <p:cNvSpPr>
            <a:spLocks noGrp="1"/>
          </p:cNvSpPr>
          <p:nvPr/>
        </p:nvSpPr>
        <p:spPr>
          <a:xfrm>
            <a:off x="4514850" y="31051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工具链发布与场景共建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3130373-94E8-447B-A1D9-8B675D72F56B}"/>
              </a:ext>
            </a:extLst>
          </p:cNvPr>
          <p:cNvSpPr>
            <a:spLocks noGrp="1"/>
          </p:cNvSpPr>
          <p:nvPr/>
        </p:nvSpPr>
        <p:spPr>
          <a:xfrm>
            <a:off x="4533900" y="3981450"/>
            <a:ext cx="76200" cy="7620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88D79B-E7AB-4CD3-843D-05DB026EEB6E}"/>
              </a:ext>
            </a:extLst>
          </p:cNvPr>
          <p:cNvSpPr>
            <a:spLocks noGrp="1"/>
          </p:cNvSpPr>
          <p:nvPr/>
        </p:nvSpPr>
        <p:spPr>
          <a:xfrm>
            <a:off x="4743450" y="3905250"/>
            <a:ext cx="2457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ibero-cli 与贡献文档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C918E44-E431-4D84-8ECD-04425B3A2577}"/>
              </a:ext>
            </a:extLst>
          </p:cNvPr>
          <p:cNvSpPr>
            <a:spLocks noGrp="1"/>
          </p:cNvSpPr>
          <p:nvPr/>
        </p:nvSpPr>
        <p:spPr>
          <a:xfrm>
            <a:off x="4533900" y="4333875"/>
            <a:ext cx="76200" cy="7620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EFBC36-54F2-4E6D-8829-48A80FEA4517}"/>
              </a:ext>
            </a:extLst>
          </p:cNvPr>
          <p:cNvSpPr>
            <a:spLocks noGrp="1"/>
          </p:cNvSpPr>
          <p:nvPr/>
        </p:nvSpPr>
        <p:spPr>
          <a:xfrm>
            <a:off x="4743450" y="4257675"/>
            <a:ext cx="2457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10+垂直细分场景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6A89BFB-3DA8-4F08-B999-070B98B93593}"/>
              </a:ext>
            </a:extLst>
          </p:cNvPr>
          <p:cNvSpPr>
            <a:spLocks noGrp="1"/>
          </p:cNvSpPr>
          <p:nvPr/>
        </p:nvSpPr>
        <p:spPr>
          <a:xfrm>
            <a:off x="4533900" y="4686300"/>
            <a:ext cx="76200" cy="76200"/>
          </a:xfrm>
          <a:prstGeom prst="ellipse">
            <a:avLst/>
          </a:prstGeom>
          <a:solidFill>
            <a:srgbClr val="FFB454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EA8DDB-1E29-4656-8753-9234D2E35BF5}"/>
              </a:ext>
            </a:extLst>
          </p:cNvPr>
          <p:cNvSpPr>
            <a:spLocks noGrp="1"/>
          </p:cNvSpPr>
          <p:nvPr/>
        </p:nvSpPr>
        <p:spPr>
          <a:xfrm>
            <a:off x="4743450" y="4610100"/>
            <a:ext cx="2457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GitHub CI 与回归测试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350FA61F-6064-4B4E-BC9A-1EED365A70D7}"/>
              </a:ext>
            </a:extLst>
          </p:cNvPr>
          <p:cNvSpPr>
            <a:spLocks noGrp="1"/>
          </p:cNvSpPr>
          <p:nvPr/>
        </p:nvSpPr>
        <p:spPr>
          <a:xfrm>
            <a:off x="7924800" y="2333625"/>
            <a:ext cx="3276600" cy="2762250"/>
          </a:xfrm>
          <a:prstGeom prst="roundRect">
            <a:avLst>
              <a:gd name="adj" fmla="val 4828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8FC77F5F-4A85-41F6-8329-F51060310F98}"/>
              </a:ext>
            </a:extLst>
          </p:cNvPr>
          <p:cNvSpPr>
            <a:spLocks noGrp="1"/>
          </p:cNvSpPr>
          <p:nvPr/>
        </p:nvSpPr>
        <p:spPr>
          <a:xfrm>
            <a:off x="7924800" y="2333625"/>
            <a:ext cx="3276600" cy="95250"/>
          </a:xfrm>
          <a:prstGeom prst="roundRect">
            <a:avLst>
              <a:gd name="adj" fmla="val 50000"/>
            </a:avLst>
          </a:prstGeom>
          <a:solidFill>
            <a:srgbClr val="63D8D0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A02D0A-F146-4ED6-99BA-BB3CDD5C8A9E}"/>
              </a:ext>
            </a:extLst>
          </p:cNvPr>
          <p:cNvSpPr>
            <a:spLocks noGrp="1"/>
          </p:cNvSpPr>
          <p:nvPr/>
        </p:nvSpPr>
        <p:spPr>
          <a:xfrm>
            <a:off x="8172450" y="2647950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7–12个月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6C8C2EF-0670-4284-87F7-632F34AEC43C}"/>
              </a:ext>
            </a:extLst>
          </p:cNvPr>
          <p:cNvSpPr>
            <a:spLocks noGrp="1"/>
          </p:cNvSpPr>
          <p:nvPr/>
        </p:nvSpPr>
        <p:spPr>
          <a:xfrm>
            <a:off x="8172450" y="31051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开源发布与赛事运营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F8BDDBF-4501-4392-ABFD-DA9D3816515A}"/>
              </a:ext>
            </a:extLst>
          </p:cNvPr>
          <p:cNvSpPr>
            <a:spLocks noGrp="1"/>
          </p:cNvSpPr>
          <p:nvPr/>
        </p:nvSpPr>
        <p:spPr>
          <a:xfrm>
            <a:off x="8191500" y="3981450"/>
            <a:ext cx="76200" cy="76200"/>
          </a:xfrm>
          <a:prstGeom prst="ellipse">
            <a:avLst/>
          </a:prstGeom>
          <a:solidFill>
            <a:srgbClr val="63D8D0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F6985AD-9C7A-42D8-B0D7-791843A6B9FA}"/>
              </a:ext>
            </a:extLst>
          </p:cNvPr>
          <p:cNvSpPr>
            <a:spLocks noGrp="1"/>
          </p:cNvSpPr>
          <p:nvPr/>
        </p:nvSpPr>
        <p:spPr>
          <a:xfrm>
            <a:off x="8401050" y="3905250"/>
            <a:ext cx="2457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正式开源与官方榜单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2502DA9-2F44-4A67-96AB-FCB335694A6B}"/>
              </a:ext>
            </a:extLst>
          </p:cNvPr>
          <p:cNvSpPr>
            <a:spLocks noGrp="1"/>
          </p:cNvSpPr>
          <p:nvPr/>
        </p:nvSpPr>
        <p:spPr>
          <a:xfrm>
            <a:off x="8191500" y="4333875"/>
            <a:ext cx="76200" cy="76200"/>
          </a:xfrm>
          <a:prstGeom prst="ellipse">
            <a:avLst/>
          </a:prstGeom>
          <a:solidFill>
            <a:srgbClr val="63D8D0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433D354-24AA-4861-B471-AB484B44F2A4}"/>
              </a:ext>
            </a:extLst>
          </p:cNvPr>
          <p:cNvSpPr>
            <a:spLocks noGrp="1"/>
          </p:cNvSpPr>
          <p:nvPr/>
        </p:nvSpPr>
        <p:spPr>
          <a:xfrm>
            <a:off x="8401050" y="4257675"/>
            <a:ext cx="2457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IROS / ICRA / CoRL 挑战赛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1498E2B-BC44-404E-AB81-055DAE795E9B}"/>
              </a:ext>
            </a:extLst>
          </p:cNvPr>
          <p:cNvSpPr>
            <a:spLocks noGrp="1"/>
          </p:cNvSpPr>
          <p:nvPr/>
        </p:nvSpPr>
        <p:spPr>
          <a:xfrm>
            <a:off x="8191500" y="4686300"/>
            <a:ext cx="76200" cy="76200"/>
          </a:xfrm>
          <a:prstGeom prst="ellipse">
            <a:avLst/>
          </a:prstGeom>
          <a:solidFill>
            <a:srgbClr val="63D8D0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5D226AA-CC79-4FFA-9966-4535BC7D7A0D}"/>
              </a:ext>
            </a:extLst>
          </p:cNvPr>
          <p:cNvSpPr>
            <a:spLocks noGrp="1"/>
          </p:cNvSpPr>
          <p:nvPr/>
        </p:nvSpPr>
        <p:spPr>
          <a:xfrm>
            <a:off x="8401050" y="4610100"/>
            <a:ext cx="2457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Benchmark论文与神经符号扩展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451AD3D-D5C3-4334-B882-513D80B3B0A4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每一阶段都为下一批参与者降低进入门槛，并为上一阶段的贡献增加可见性。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6FDBD0-A4F2-4142-8D53-2BC3CD39821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IBERO · Industrial Bimanual Embodied Robotic Operations Benchmark</a:t>
            </a:r>
          </a:p>
        </p:txBody>
      </p:sp>
    </p:spTree>
    <p:extLst>
      <p:ext uri="{BB962C8B-B14F-4D97-AF65-F5344CB8AC3E}">
        <p14:creationId xmlns:p14="http://schemas.microsoft.com/office/powerpoint/2010/main" val="75030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59B4893-202D-4030-9047-2ADEAEA4975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13 / INVITATION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B6CF31-E8C4-4F84-822E-3705C2983E2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邀请高校与企业共同定义下一代工业具身基准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A944F573-E764-4D55-8FF4-277867A0DB34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195B7A-F96D-4B9E-B212-B36F71BC3268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DB7C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0180EB-14F7-46FB-A387-FBB1FB0FDE7D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如果一个工业场景值得被研究、被复现、被比较，它就值得进入 IBERO。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B3046CD-C550-431C-8520-2115781FBDA9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3276600" cy="1619250"/>
          </a:xfrm>
          <a:prstGeom prst="roundRect">
            <a:avLst>
              <a:gd name="adj" fmla="val 8235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CDCC10-F415-4466-9A75-9037208FD422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47A8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71AF89-C29B-4FF4-B99D-04ABE6CC26BB}"/>
              </a:ext>
            </a:extLst>
          </p:cNvPr>
          <p:cNvSpPr>
            <a:spLocks noGrp="1"/>
          </p:cNvSpPr>
          <p:nvPr/>
        </p:nvSpPr>
        <p:spPr>
          <a:xfrm>
            <a:off x="1485900" y="28384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带来一个真实问题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17529702-DD85-40B2-B112-43822379934D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28194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D78292-80B9-4E5D-B0D9-92ECA1C95462}"/>
              </a:ext>
            </a:extLst>
          </p:cNvPr>
          <p:cNvSpPr>
            <a:spLocks noGrp="1"/>
          </p:cNvSpPr>
          <p:nvPr/>
        </p:nvSpPr>
        <p:spPr>
          <a:xfrm>
            <a:off x="838200" y="3600450"/>
            <a:ext cx="2781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精密装配、线束、拆解、再制造或长时程工艺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3368891-A826-41E5-8A9F-20CB326BA065}"/>
              </a:ext>
            </a:extLst>
          </p:cNvPr>
          <p:cNvSpPr>
            <a:spLocks noGrp="1"/>
          </p:cNvSpPr>
          <p:nvPr/>
        </p:nvSpPr>
        <p:spPr>
          <a:xfrm>
            <a:off x="4267200" y="2571750"/>
            <a:ext cx="3276600" cy="1619250"/>
          </a:xfrm>
          <a:prstGeom prst="roundRect">
            <a:avLst>
              <a:gd name="adj" fmla="val 8235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2C4C5-882E-4978-AE94-FD280DD213A5}"/>
              </a:ext>
            </a:extLst>
          </p:cNvPr>
          <p:cNvSpPr>
            <a:spLocks noGrp="1"/>
          </p:cNvSpPr>
          <p:nvPr/>
        </p:nvSpPr>
        <p:spPr>
          <a:xfrm>
            <a:off x="4495800" y="28003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2E9F12-896B-4B71-A478-7A11C3C325BB}"/>
              </a:ext>
            </a:extLst>
          </p:cNvPr>
          <p:cNvSpPr>
            <a:spLocks noGrp="1"/>
          </p:cNvSpPr>
          <p:nvPr/>
        </p:nvSpPr>
        <p:spPr>
          <a:xfrm>
            <a:off x="5143500" y="28384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贡献一种能力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13996BA5-392C-4318-933A-2C99BED8655B}"/>
              </a:ext>
            </a:extLst>
          </p:cNvPr>
          <p:cNvSpPr>
            <a:spLocks noGrp="1"/>
          </p:cNvSpPr>
          <p:nvPr/>
        </p:nvSpPr>
        <p:spPr>
          <a:xfrm>
            <a:off x="4495800" y="3390900"/>
            <a:ext cx="28194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95FC5E-9BE5-451D-B34A-F8F097673D57}"/>
              </a:ext>
            </a:extLst>
          </p:cNvPr>
          <p:cNvSpPr>
            <a:spLocks noGrp="1"/>
          </p:cNvSpPr>
          <p:nvPr/>
        </p:nvSpPr>
        <p:spPr>
          <a:xfrm>
            <a:off x="4495800" y="3600450"/>
            <a:ext cx="2781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场景资产、专家示教、Baseline、评测指标或工具链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18925A1-06EC-4DAC-8CB8-DC5A22C499E2}"/>
              </a:ext>
            </a:extLst>
          </p:cNvPr>
          <p:cNvSpPr>
            <a:spLocks noGrp="1"/>
          </p:cNvSpPr>
          <p:nvPr/>
        </p:nvSpPr>
        <p:spPr>
          <a:xfrm>
            <a:off x="7924800" y="2571750"/>
            <a:ext cx="3276600" cy="1619250"/>
          </a:xfrm>
          <a:prstGeom prst="roundRect">
            <a:avLst>
              <a:gd name="adj" fmla="val 8235"/>
            </a:avLst>
          </a:prstGeom>
          <a:solidFill>
            <a:srgbClr val="103A55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8B759E-38DE-4360-AAB4-33DE2897FDBA}"/>
              </a:ext>
            </a:extLst>
          </p:cNvPr>
          <p:cNvSpPr>
            <a:spLocks noGrp="1"/>
          </p:cNvSpPr>
          <p:nvPr/>
        </p:nvSpPr>
        <p:spPr>
          <a:xfrm>
            <a:off x="8153400" y="28003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F1C104-7279-4FEE-AB17-38BE8206A78B}"/>
              </a:ext>
            </a:extLst>
          </p:cNvPr>
          <p:cNvSpPr>
            <a:spLocks noGrp="1"/>
          </p:cNvSpPr>
          <p:nvPr/>
        </p:nvSpPr>
        <p:spPr>
          <a:xfrm>
            <a:off x="8801100" y="28384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共同产出结果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F0FA544A-60D9-454B-A3AC-8D1DF4029418}"/>
              </a:ext>
            </a:extLst>
          </p:cNvPr>
          <p:cNvSpPr>
            <a:spLocks noGrp="1"/>
          </p:cNvSpPr>
          <p:nvPr/>
        </p:nvSpPr>
        <p:spPr>
          <a:xfrm>
            <a:off x="8153400" y="3390900"/>
            <a:ext cx="2819400" cy="0"/>
          </a:xfrm>
          <a:prstGeom prst="line">
            <a:avLst/>
          </a:prstGeom>
          <a:noFill/>
          <a:ln w="9525">
            <a:solidFill>
              <a:srgbClr val="2E5D7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5768BC-2053-4A45-9904-51D8FD20C857}"/>
              </a:ext>
            </a:extLst>
          </p:cNvPr>
          <p:cNvSpPr>
            <a:spLocks noGrp="1"/>
          </p:cNvSpPr>
          <p:nvPr/>
        </p:nvSpPr>
        <p:spPr>
          <a:xfrm>
            <a:off x="8153400" y="3600450"/>
            <a:ext cx="2781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7E8F2"/>
                </a:solidFill>
                <a:latin typeface="Microsoft YaHei"/>
                <a:ea typeface="Microsoft YaHei"/>
                <a:cs typeface="Microsoft YaHei"/>
              </a:rPr>
              <a:t>可复现数据、公开榜单、Benchmark论文与工业验证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8606063-5F2E-476B-A8EE-19DE2D276FFB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876300"/>
          </a:xfrm>
          <a:prstGeom prst="roundRect">
            <a:avLst>
              <a:gd name="adj" fmla="val 13043"/>
            </a:avLst>
          </a:prstGeom>
          <a:solidFill>
            <a:srgbClr val="174A66"/>
          </a:solidFill>
          <a:ln w="9525">
            <a:solidFill>
              <a:srgbClr val="2E5D7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4E0550B-8A21-438D-838C-80CA96EDDFD4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首批共建方向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9F93C2-AD67-43B6-9E7C-0826A4570CDA}"/>
              </a:ext>
            </a:extLst>
          </p:cNvPr>
          <p:cNvSpPr>
            <a:spLocks noGrp="1"/>
          </p:cNvSpPr>
          <p:nvPr/>
        </p:nvSpPr>
        <p:spPr>
          <a:xfrm>
            <a:off x="2781300" y="5048250"/>
            <a:ext cx="828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高校：把特色课题变成标准场景  ·  企业：把典型工艺变成可验证资产  ·  社区：把方法变成共同基准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2F5C425-7E8B-4A86-B7BA-CA5E8CA1F128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63D8D0"/>
                </a:solidFill>
                <a:latin typeface="Microsoft YaHei"/>
                <a:ea typeface="Microsoft YaHei"/>
                <a:cs typeface="Microsoft YaHei"/>
              </a:rPr>
              <a:t>IBERO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9F7839B-8FB3-4BE0-AAF0-0FBE9669D820}"/>
              </a:ext>
            </a:extLst>
          </p:cNvPr>
          <p:cNvSpPr>
            <a:spLocks noGrp="1"/>
          </p:cNvSpPr>
          <p:nvPr/>
        </p:nvSpPr>
        <p:spPr>
          <a:xfrm>
            <a:off x="2667000" y="615315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5FAFD"/>
                </a:solidFill>
                <a:latin typeface="Microsoft YaHei"/>
                <a:ea typeface="Microsoft YaHei"/>
                <a:cs typeface="Microsoft YaHei"/>
              </a:rPr>
              <a:t>从共享底座开始，共同建设工业双臂具身智能的开放标准。</a:t>
            </a:r>
          </a:p>
        </p:txBody>
      </p:sp>
    </p:spTree>
    <p:extLst>
      <p:ext uri="{BB962C8B-B14F-4D97-AF65-F5344CB8AC3E}">
        <p14:creationId xmlns:p14="http://schemas.microsoft.com/office/powerpoint/2010/main" val="2471187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1287</Words>
  <Application>Microsoft Macintosh PowerPoint</Application>
  <DocSecurity>0</DocSecurity>
  <PresentationFormat>宽屏</PresentationFormat>
  <Paragraphs>298</Paragraphs>
  <Slides>18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Ming Chen</cp:lastModifiedBy>
  <cp:revision>2</cp:revision>
  <dcterms:created xsi:type="dcterms:W3CDTF">2026-09-05T02:35:05Z</dcterms:created>
  <dcterms:modified xsi:type="dcterms:W3CDTF">2026-09-07T15:51:04Z</dcterms:modified>
</cp:coreProperties>
</file>